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417320"/>
            <a:ext cx="83210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2286000"/>
            <a:ext cx="83210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ORI logo" descr="AIORI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65760"/>
            <a:ext cx="822960" cy="8138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11480" y="14173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A3-PS023-TC301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11480" y="2286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Minimal Two-Node Cloud Hypervisor VM Controller</a:t>
            </a:r>
            <a:endParaRPr lang="en-US" sz="2000" dirty="0"/>
          </a:p>
        </p:txBody>
      </p:sp>
      <p:sp>
        <p:nvSpPr>
          <p:cNvPr id="5" name="Member role 1"/>
          <p:cNvSpPr txBox="1"/>
          <p:nvPr/>
        </p:nvSpPr>
        <p:spPr>
          <a:xfrm>
            <a:off x="411480" y="2834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Member 1</a:t>
            </a:r>
            <a:endParaRPr lang="en-US" sz="1000" dirty="0"/>
          </a:p>
        </p:txBody>
      </p:sp>
      <p:sp>
        <p:nvSpPr>
          <p:cNvPr id="6" name="Member name 1"/>
          <p:cNvSpPr txBox="1"/>
          <p:nvPr/>
        </p:nvSpPr>
        <p:spPr>
          <a:xfrm>
            <a:off x="41148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Prof. Dr. Baisakhi Das</a:t>
            </a:r>
            <a:endParaRPr lang="en-US" sz="1500" dirty="0"/>
          </a:p>
        </p:txBody>
      </p:sp>
      <p:sp>
        <p:nvSpPr>
          <p:cNvPr id="7" name="Member email 1"/>
          <p:cNvSpPr txBox="1"/>
          <p:nvPr/>
        </p:nvSpPr>
        <p:spPr>
          <a:xfrm>
            <a:off x="411480" y="33284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baisakhi.das@iem.edu.in</a:t>
            </a:r>
            <a:endParaRPr lang="en-US" sz="1100" dirty="0"/>
          </a:p>
        </p:txBody>
      </p:sp>
      <p:sp>
        <p:nvSpPr>
          <p:cNvPr id="8" name="Member affiliation 1"/>
          <p:cNvSpPr txBox="1"/>
          <p:nvPr/>
        </p:nvSpPr>
        <p:spPr>
          <a:xfrm>
            <a:off x="41148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Institute of Engineering and Management, Salt Lake, Kolkata</a:t>
            </a:r>
            <a:endParaRPr lang="en-US" sz="1100" dirty="0"/>
          </a:p>
        </p:txBody>
      </p:sp>
      <p:sp>
        <p:nvSpPr>
          <p:cNvPr id="9" name="Member role 2"/>
          <p:cNvSpPr txBox="1"/>
          <p:nvPr/>
        </p:nvSpPr>
        <p:spPr>
          <a:xfrm>
            <a:off x="3154680" y="2834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Member 2</a:t>
            </a:r>
            <a:endParaRPr lang="en-US" sz="1000" dirty="0"/>
          </a:p>
        </p:txBody>
      </p:sp>
      <p:sp>
        <p:nvSpPr>
          <p:cNvPr id="10" name="Member name 2"/>
          <p:cNvSpPr txBox="1"/>
          <p:nvPr/>
        </p:nvSpPr>
        <p:spPr>
          <a:xfrm>
            <a:off x="315468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Debarghaya Mitra</a:t>
            </a:r>
            <a:endParaRPr lang="en-US" sz="1500" dirty="0"/>
          </a:p>
        </p:txBody>
      </p:sp>
      <p:sp>
        <p:nvSpPr>
          <p:cNvPr id="11" name="Member email 2"/>
          <p:cNvSpPr txBox="1"/>
          <p:nvPr/>
        </p:nvSpPr>
        <p:spPr>
          <a:xfrm>
            <a:off x="3154680" y="33284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debarghaya@debarghaya.in</a:t>
            </a:r>
            <a:endParaRPr lang="en-US" sz="1100" dirty="0"/>
          </a:p>
        </p:txBody>
      </p:sp>
      <p:sp>
        <p:nvSpPr>
          <p:cNvPr id="12" name="Member affiliation 2"/>
          <p:cNvSpPr txBox="1"/>
          <p:nvPr/>
        </p:nvSpPr>
        <p:spPr>
          <a:xfrm>
            <a:off x="315468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Institute of Engineering and Management, Salt Lake, Kolkata</a:t>
            </a:r>
            <a:endParaRPr lang="en-US" sz="1100" dirty="0"/>
          </a:p>
        </p:txBody>
      </p:sp>
      <p:sp>
        <p:nvSpPr>
          <p:cNvPr id="13" name="Member role 3"/>
          <p:cNvSpPr txBox="1"/>
          <p:nvPr/>
        </p:nvSpPr>
        <p:spPr>
          <a:xfrm>
            <a:off x="5897880" y="2834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Team Member 3</a:t>
            </a:r>
            <a:endParaRPr lang="en-US" sz="1000" dirty="0"/>
          </a:p>
        </p:txBody>
      </p:sp>
      <p:sp>
        <p:nvSpPr>
          <p:cNvPr id="14" name="Member name 3"/>
          <p:cNvSpPr txBox="1"/>
          <p:nvPr/>
        </p:nvSpPr>
        <p:spPr>
          <a:xfrm>
            <a:off x="5897880" y="3044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Swapnil Chakraborty</a:t>
            </a:r>
            <a:endParaRPr lang="en-US" sz="1500" dirty="0"/>
          </a:p>
        </p:txBody>
      </p:sp>
      <p:sp>
        <p:nvSpPr>
          <p:cNvPr id="15" name="Member email 3"/>
          <p:cNvSpPr txBox="1"/>
          <p:nvPr/>
        </p:nvSpPr>
        <p:spPr>
          <a:xfrm>
            <a:off x="5897880" y="33284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chakrabortyswapnil06@gmail.com</a:t>
            </a:r>
            <a:endParaRPr lang="en-US" sz="1100" dirty="0"/>
          </a:p>
        </p:txBody>
      </p:sp>
      <p:sp>
        <p:nvSpPr>
          <p:cNvPr id="16" name="Member affiliation 3"/>
          <p:cNvSpPr txBox="1"/>
          <p:nvPr/>
        </p:nvSpPr>
        <p:spPr>
          <a:xfrm>
            <a:off x="589788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Institute of Engineering and Management, Salt Lake, Kolkata</a:t>
            </a:r>
            <a:endParaRPr lang="en-US" sz="1100" dirty="0"/>
          </a:p>
        </p:txBody>
      </p:sp>
      <p:sp>
        <p:nvSpPr>
          <p:cNvPr id="17" name="Event"/>
          <p:cNvSpPr txBox="1"/>
          <p:nvPr/>
        </p:nvSpPr>
        <p:spPr>
          <a:xfrm>
            <a:off x="41148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AIORI Hackathon 3</a:t>
            </a:r>
            <a:endParaRPr lang="en-US" sz="1400" dirty="0"/>
          </a:p>
        </p:txBody>
      </p:sp>
      <p:sp>
        <p:nvSpPr>
          <p:cNvPr id="18" name="Date"/>
          <p:cNvSpPr txBox="1"/>
          <p:nvPr/>
        </p:nvSpPr>
        <p:spPr>
          <a:xfrm>
            <a:off x="4114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October 14,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Abstract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Description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lightweight KVM cloud needs a thin controller, not a stack of heavy daemons.</a:t>
            </a:r>
            <a:endParaRPr lang="en-US" sz="1500" dirty="0"/>
          </a:p>
        </p:txBody>
      </p:sp>
      <p:sp>
        <p:nvSpPr>
          <p:cNvPr id="7" name="Row badge 1"/>
          <p:cNvSpPr/>
          <p:nvPr/>
        </p:nvSpPr>
        <p:spPr>
          <a:xfrm>
            <a:off x="457200" y="1581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Row number 1"/>
          <p:cNvSpPr txBox="1"/>
          <p:nvPr/>
        </p:nvSpPr>
        <p:spPr>
          <a:xfrm>
            <a:off x="45720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text 1"/>
          <p:cNvSpPr txBox="1"/>
          <p:nvPr/>
        </p:nvSpPr>
        <p:spPr>
          <a:xfrm>
            <a:off x="1005840" y="150876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Enterprise hypervisors use multi-daemon architectures whose overhead is too high for lightweight edge deployments.</a:t>
            </a:r>
            <a:endParaRPr lang="en-US" sz="1500" dirty="0"/>
          </a:p>
        </p:txBody>
      </p:sp>
      <p:sp>
        <p:nvSpPr>
          <p:cNvPr id="10" name="Row badge 2"/>
          <p:cNvSpPr/>
          <p:nvPr/>
        </p:nvSpPr>
        <p:spPr>
          <a:xfrm>
            <a:off x="457200" y="2185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Row number 2"/>
          <p:cNvSpPr txBox="1"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text 2"/>
          <p:cNvSpPr txBox="1"/>
          <p:nvPr/>
        </p:nvSpPr>
        <p:spPr>
          <a:xfrm>
            <a:off x="1005840" y="211226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Cloud Hypervisor boots one VM per process on Linux KVM with a minimal footprint, but has no notion of a cluster.</a:t>
            </a:r>
            <a:endParaRPr lang="en-US" sz="1500" dirty="0"/>
          </a:p>
        </p:txBody>
      </p:sp>
      <p:sp>
        <p:nvSpPr>
          <p:cNvPr id="13" name="Row badge 3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ow number 3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text 3"/>
          <p:cNvSpPr txBox="1"/>
          <p:nvPr/>
        </p:nvSpPr>
        <p:spPr>
          <a:xfrm>
            <a:off x="1005840" y="271576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Challenge: a controller and two worker agents on two KVM hosts that create, start, stop and list VMs.</a:t>
            </a:r>
            <a:endParaRPr lang="en-US" sz="1500" dirty="0"/>
          </a:p>
        </p:txBody>
      </p:sp>
      <p:sp>
        <p:nvSpPr>
          <p:cNvPr id="16" name="Row badge 4"/>
          <p:cNvSpPr/>
          <p:nvPr/>
        </p:nvSpPr>
        <p:spPr>
          <a:xfrm>
            <a:off x="457200" y="33924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w number 4"/>
          <p:cNvSpPr txBox="1"/>
          <p:nvPr/>
        </p:nvSpPr>
        <p:spPr>
          <a:xfrm>
            <a:off x="4572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005840" y="331927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Placement must follow available host memory, and VM resource limits must be enforced.</a:t>
            </a:r>
            <a:endParaRPr lang="en-US" sz="1500" dirty="0"/>
          </a:p>
        </p:txBody>
      </p:sp>
      <p:sp>
        <p:nvSpPr>
          <p:cNvPr id="19" name="Row badge 5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Row number 5"/>
          <p:cNvSpPr txBox="1"/>
          <p:nvPr/>
        </p:nvSpPr>
        <p:spPr>
          <a:xfrm>
            <a:off x="4572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Row text 5"/>
          <p:cNvSpPr txBox="1"/>
          <p:nvPr/>
        </p:nvSpPr>
        <p:spPr>
          <a:xfrm>
            <a:off x="1005840" y="39227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failures must be handled and VM processes cleaned up, with no orphaned VMs or leaks.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Background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Background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is needed to understand the problem and the proposed design.</a:t>
            </a:r>
            <a:endParaRPr lang="en-US" sz="1500" dirty="0"/>
          </a:p>
        </p:txBody>
      </p:sp>
      <p:sp>
        <p:nvSpPr>
          <p:cNvPr id="7" name="Row badge 1"/>
          <p:cNvSpPr/>
          <p:nvPr/>
        </p:nvSpPr>
        <p:spPr>
          <a:xfrm>
            <a:off x="457200" y="1581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Row number 1"/>
          <p:cNvSpPr txBox="1"/>
          <p:nvPr/>
        </p:nvSpPr>
        <p:spPr>
          <a:xfrm>
            <a:off x="45720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text 1"/>
          <p:cNvSpPr txBox="1"/>
          <p:nvPr/>
        </p:nvSpPr>
        <p:spPr>
          <a:xfrm>
            <a:off x="1005840" y="150876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KVM turns Linux into a hypervisor and is exposed to user space through /dev/kvm [6].</a:t>
            </a:r>
            <a:endParaRPr lang="en-US" sz="1500" dirty="0"/>
          </a:p>
        </p:txBody>
      </p:sp>
      <p:sp>
        <p:nvSpPr>
          <p:cNvPr id="10" name="Row badge 2"/>
          <p:cNvSpPr/>
          <p:nvPr/>
        </p:nvSpPr>
        <p:spPr>
          <a:xfrm>
            <a:off x="457200" y="2185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Row number 2"/>
          <p:cNvSpPr txBox="1"/>
          <p:nvPr/>
        </p:nvSpPr>
        <p:spPr>
          <a:xfrm>
            <a:off x="45720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text 2"/>
          <p:cNvSpPr txBox="1"/>
          <p:nvPr/>
        </p:nvSpPr>
        <p:spPr>
          <a:xfrm>
            <a:off x="1005840" y="211226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Cloud Hypervisor is a minimal VMM on KVM; it is controlled through a REST API served on a UNIX socket [1].</a:t>
            </a:r>
            <a:endParaRPr lang="en-US" sz="1500" dirty="0"/>
          </a:p>
        </p:txBody>
      </p:sp>
      <p:sp>
        <p:nvSpPr>
          <p:cNvPr id="13" name="Row badge 3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ow number 3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text 3"/>
          <p:cNvSpPr txBox="1"/>
          <p:nvPr/>
        </p:nvSpPr>
        <p:spPr>
          <a:xfrm>
            <a:off x="1005840" y="271576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Cloud Hypervisor process runs exactly one VM, so “listing VMs” means asking every supervised process [1], [2].</a:t>
            </a:r>
            <a:endParaRPr lang="en-US" sz="1500" dirty="0"/>
          </a:p>
        </p:txBody>
      </p:sp>
      <p:sp>
        <p:nvSpPr>
          <p:cNvPr id="16" name="Row badge 4"/>
          <p:cNvSpPr/>
          <p:nvPr/>
        </p:nvSpPr>
        <p:spPr>
          <a:xfrm>
            <a:off x="457200" y="33924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w number 4"/>
          <p:cNvSpPr txBox="1"/>
          <p:nvPr/>
        </p:nvSpPr>
        <p:spPr>
          <a:xfrm>
            <a:off x="45720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005840" y="331927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Linux cgroup v2 can cap memory, CPU and process count, and kill every process of a VM at once [5].</a:t>
            </a:r>
            <a:endParaRPr lang="en-US" sz="1500" dirty="0"/>
          </a:p>
        </p:txBody>
      </p:sp>
      <p:sp>
        <p:nvSpPr>
          <p:cNvPr id="19" name="Row badge 5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Row number 5"/>
          <p:cNvSpPr txBox="1"/>
          <p:nvPr/>
        </p:nvSpPr>
        <p:spPr>
          <a:xfrm>
            <a:off x="4572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Row text 5"/>
          <p:cNvSpPr txBox="1"/>
          <p:nvPr/>
        </p:nvSpPr>
        <p:spPr>
          <a:xfrm>
            <a:off x="1005840" y="39227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Bearer tokens over TLS are a standard, light way to authenticate API callers [3], [4].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Understanding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Requirements to Design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Each requirement in the statement and what it means for the design.</a:t>
            </a:r>
            <a:endParaRPr lang="en-US" sz="1500" dirty="0"/>
          </a:p>
        </p:txBody>
      </p:sp>
      <p:graphicFrame>
        <p:nvGraphicFramePr>
          <p:cNvPr id="5" name="Requir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303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Design implication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KVM hosts, preset networking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Verify /dev/kvm at startup; consume pre-made TAP or bridge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prepared VM image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Per-VM reflink copy of the base image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Authenticated controller to worker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Bearer token over TLS; mTLS as hardening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Memory-based placement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Workers report free RAM; controller reserves atomically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Enforced resource limits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Flavors, Cloud Hypervisor config and cgroup v2 caps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Clean failure handling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Supervision, rollback, reconciler, cgroup kill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Understanding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the Difficulty Hides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statement looks simple; these are the parts that decide the result.</a:t>
            </a:r>
            <a:endParaRPr lang="en-US" sz="1500" dirty="0"/>
          </a:p>
        </p:txBody>
      </p:sp>
      <p:sp>
        <p:nvSpPr>
          <p:cNvPr id="7" name="Difficulty card 1"/>
          <p:cNvSpPr/>
          <p:nvPr/>
        </p:nvSpPr>
        <p:spPr>
          <a:xfrm>
            <a:off x="41148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8" name="Difficulty badge 1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Difficulty badge 1 label"/>
          <p:cNvSpPr txBox="1"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Difficulty title 1"/>
          <p:cNvSpPr txBox="1"/>
          <p:nvPr/>
        </p:nvSpPr>
        <p:spPr>
          <a:xfrm>
            <a:off x="12344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Orphaned VMs</a:t>
            </a:r>
            <a:endParaRPr lang="en-US" sz="1700" dirty="0"/>
          </a:p>
        </p:txBody>
      </p:sp>
      <p:sp>
        <p:nvSpPr>
          <p:cNvPr id="11" name="Difficulty text 1"/>
          <p:cNvSpPr txBox="1"/>
          <p:nvPr/>
        </p:nvSpPr>
        <p:spPr>
          <a:xfrm>
            <a:off x="1234440" y="2084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worker crash can leave cloud-hypervisor processes eating RAM.</a:t>
            </a:r>
            <a:endParaRPr lang="en-US" sz="1300" dirty="0"/>
          </a:p>
        </p:txBody>
      </p:sp>
      <p:sp>
        <p:nvSpPr>
          <p:cNvPr id="12" name="Difficulty card 2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Difficulty badge 2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Difficulty badge 2 label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Difficulty title 2"/>
          <p:cNvSpPr txBox="1"/>
          <p:nvPr/>
        </p:nvSpPr>
        <p:spPr>
          <a:xfrm>
            <a:off x="54864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Partial failures</a:t>
            </a:r>
            <a:endParaRPr lang="en-US" sz="1700" dirty="0"/>
          </a:p>
        </p:txBody>
      </p:sp>
      <p:sp>
        <p:nvSpPr>
          <p:cNvPr id="16" name="Difficulty text 2"/>
          <p:cNvSpPr txBox="1"/>
          <p:nvPr/>
        </p:nvSpPr>
        <p:spPr>
          <a:xfrm>
            <a:off x="5486400" y="2084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vm.create succeeds, vm.boot fails: leaked disk and process.</a:t>
            </a:r>
            <a:endParaRPr lang="en-US" sz="1300" dirty="0"/>
          </a:p>
        </p:txBody>
      </p:sp>
      <p:sp>
        <p:nvSpPr>
          <p:cNvPr id="17" name="Difficulty card 3"/>
          <p:cNvSpPr/>
          <p:nvPr/>
        </p:nvSpPr>
        <p:spPr>
          <a:xfrm>
            <a:off x="411480" y="29718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Difficulty badge 3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Difficulty badge 3 label"/>
          <p:cNvSpPr txBox="1"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Difficulty title 3"/>
          <p:cNvSpPr txBox="1"/>
          <p:nvPr/>
        </p:nvSpPr>
        <p:spPr>
          <a:xfrm>
            <a:off x="12344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Placement races</a:t>
            </a:r>
            <a:endParaRPr lang="en-US" sz="1700" dirty="0"/>
          </a:p>
        </p:txBody>
      </p:sp>
      <p:sp>
        <p:nvSpPr>
          <p:cNvPr id="21" name="Difficulty text 3"/>
          <p:cNvSpPr txBox="1"/>
          <p:nvPr/>
        </p:nvSpPr>
        <p:spPr>
          <a:xfrm>
            <a:off x="1234440" y="35935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requests see the same free memory and overcommit a host.</a:t>
            </a:r>
            <a:endParaRPr lang="en-US" sz="1300" dirty="0"/>
          </a:p>
        </p:txBody>
      </p:sp>
      <p:sp>
        <p:nvSpPr>
          <p:cNvPr id="22" name="Difficulty card 4"/>
          <p:cNvSpPr/>
          <p:nvPr/>
        </p:nvSpPr>
        <p:spPr>
          <a:xfrm>
            <a:off x="4663440" y="29718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3" name="Difficulty badge 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Difficulty badge 4 label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Difficulty title 4"/>
          <p:cNvSpPr txBox="1"/>
          <p:nvPr/>
        </p:nvSpPr>
        <p:spPr>
          <a:xfrm>
            <a:off x="54864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State divergence</a:t>
            </a:r>
            <a:endParaRPr lang="en-US" sz="1700" dirty="0"/>
          </a:p>
        </p:txBody>
      </p:sp>
      <p:sp>
        <p:nvSpPr>
          <p:cNvPr id="26" name="Difficulty text 4"/>
          <p:cNvSpPr txBox="1"/>
          <p:nvPr/>
        </p:nvSpPr>
        <p:spPr>
          <a:xfrm>
            <a:off x="5486400" y="35935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Controller inventory and worker reality drift after restarts.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Understanding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Assumptions and Non-goals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we take as given, and what we deliberately leave out.</a:t>
            </a:r>
            <a:endParaRPr lang="en-US" sz="1500" dirty="0"/>
          </a:p>
        </p:txBody>
      </p:sp>
      <p:sp>
        <p:nvSpPr>
          <p:cNvPr id="7" name="Scope card 1"/>
          <p:cNvSpPr/>
          <p:nvPr/>
        </p:nvSpPr>
        <p:spPr>
          <a:xfrm>
            <a:off x="411480" y="146304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8" name="Scope title 1"/>
          <p:cNvSpPr txBox="1"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Assumptions</a:t>
            </a:r>
            <a:endParaRPr lang="en-US" sz="1800" dirty="0"/>
          </a:p>
        </p:txBody>
      </p:sp>
      <p:sp>
        <p:nvSpPr>
          <p:cNvPr id="9" name="Scope bullets 1"/>
          <p:cNvSpPr txBox="1"/>
          <p:nvPr/>
        </p:nvSpPr>
        <p:spPr>
          <a:xfrm>
            <a:off x="640080" y="210312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Linux with KVM, cgroup v2 and a cloud-hypervisor binary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prepared image at the same path on both hosts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Preconfigured bridge or TAP; controller reaches both workers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Workers run as root or with CAP_NET_ADMIN</a:t>
            </a:r>
            <a:endParaRPr lang="en-US" sz="1300" dirty="0"/>
          </a:p>
        </p:txBody>
      </p:sp>
      <p:sp>
        <p:nvSpPr>
          <p:cNvPr id="10" name="Scope card 2"/>
          <p:cNvSpPr/>
          <p:nvPr/>
        </p:nvSpPr>
        <p:spPr>
          <a:xfrm>
            <a:off x="4663440" y="146304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1" name="Scope title 2"/>
          <p:cNvSpPr txBox="1"/>
          <p:nvPr/>
        </p:nvSpPr>
        <p:spPr>
          <a:xfrm>
            <a:off x="48920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Non-goals</a:t>
            </a:r>
            <a:endParaRPr lang="en-US" sz="1800" dirty="0"/>
          </a:p>
        </p:txBody>
      </p:sp>
      <p:sp>
        <p:nvSpPr>
          <p:cNvPr id="12" name="Scope bullets 2"/>
          <p:cNvSpPr txBox="1"/>
          <p:nvPr/>
        </p:nvSpPr>
        <p:spPr>
          <a:xfrm>
            <a:off x="4892040" y="210312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migration and distributed storage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Browser VNC and an image marketplace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new hypervisor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Also ours: HA controller, RBAC, CPU overcommit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Literature &amp; RFC Review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Literature &amp; RFC Review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Only the most relevant standards and studies, and how each is used.</a:t>
            </a:r>
            <a:endParaRPr lang="en-US" sz="1500" dirty="0"/>
          </a:p>
        </p:txBody>
      </p:sp>
      <p:graphicFrame>
        <p:nvGraphicFramePr>
          <p:cNvPr id="8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Key idea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Used in our design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[1] Cloud Hypervisor API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REST over a UNIX socket: vm.create, vm.boot, vm.shutdown, vm.delete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Worker lifecycle integration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[2] Firecracker (NSDI 2020)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Minimal VMM; one process and one API socket per micro-VM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Process-per-VM supervision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[3] RFC 6750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Bearer tokens in the Authorization header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Controller and worker API auth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[4] RFC 8446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TLS 1.3 protects credentials in transit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Encrypted controller-worker link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[5] Linux cgroup v2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memory.max, cpu.max, pids.max, cgroup.kill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Limits and leak-free teardown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[6] KVM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In-kernel hypervisor exposed as /dev/kvm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Hardware virtualisation</a:t>
                      </a:r>
                      <a:endParaRPr lang="en-US" sz="12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Proposed Solution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controller, two worker agents, one Cloud Hypervisor process per VM.</a:t>
            </a:r>
            <a:endParaRPr lang="en-US" sz="1500" dirty="0"/>
          </a:p>
        </p:txBody>
      </p:sp>
      <p:sp>
        <p:nvSpPr>
          <p:cNvPr id="7" name="Row badge 1"/>
          <p:cNvSpPr/>
          <p:nvPr/>
        </p:nvSpPr>
        <p:spPr>
          <a:xfrm>
            <a:off x="457200" y="14401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Row number 1"/>
          <p:cNvSpPr txBox="1"/>
          <p:nvPr/>
        </p:nvSpPr>
        <p:spPr>
          <a:xfrm>
            <a:off x="457200" y="1440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text 1"/>
          <p:cNvSpPr txBox="1"/>
          <p:nvPr/>
        </p:nvSpPr>
        <p:spPr>
          <a:xfrm>
            <a:off x="1005840" y="141732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Controller: authenticated REST API, SQLite inventory, memory-based placement and a periodic reconciler.</a:t>
            </a:r>
            <a:endParaRPr lang="en-US" sz="1400" dirty="0"/>
          </a:p>
        </p:txBody>
      </p:sp>
      <p:sp>
        <p:nvSpPr>
          <p:cNvPr id="10" name="Row badge 2"/>
          <p:cNvSpPr/>
          <p:nvPr/>
        </p:nvSpPr>
        <p:spPr>
          <a:xfrm>
            <a:off x="457200" y="19431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Row number 2"/>
          <p:cNvSpPr txBox="1"/>
          <p:nvPr/>
        </p:nvSpPr>
        <p:spPr>
          <a:xfrm>
            <a:off x="457200" y="19431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text 2"/>
          <p:cNvSpPr txBox="1"/>
          <p:nvPr/>
        </p:nvSpPr>
        <p:spPr>
          <a:xfrm>
            <a:off x="1005840" y="19202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Worker agent (per host): spawns cloud-hypervisor in its own cgroup, drives vm.create, vm.boot, vm.shutdown and vm.delete, reports free memory.</a:t>
            </a:r>
            <a:endParaRPr lang="en-US" sz="1400" dirty="0"/>
          </a:p>
        </p:txBody>
      </p:sp>
      <p:sp>
        <p:nvSpPr>
          <p:cNvPr id="13" name="Row badge 3"/>
          <p:cNvSpPr/>
          <p:nvPr/>
        </p:nvSpPr>
        <p:spPr>
          <a:xfrm>
            <a:off x="457200" y="24460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ow number 3"/>
          <p:cNvSpPr txBox="1"/>
          <p:nvPr/>
        </p:nvSpPr>
        <p:spPr>
          <a:xfrm>
            <a:off x="457200" y="2446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text 3"/>
          <p:cNvSpPr txBox="1"/>
          <p:nvPr/>
        </p:nvSpPr>
        <p:spPr>
          <a:xfrm>
            <a:off x="1005840" y="242316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Security: bearer token over TLS on both API tiers; VM sockets are owned by the agent only.</a:t>
            </a:r>
            <a:endParaRPr lang="en-US" sz="1400" dirty="0"/>
          </a:p>
        </p:txBody>
      </p:sp>
      <p:sp>
        <p:nvSpPr>
          <p:cNvPr id="16" name="Row badge 4"/>
          <p:cNvSpPr/>
          <p:nvPr/>
        </p:nvSpPr>
        <p:spPr>
          <a:xfrm>
            <a:off x="457200" y="29489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w number 4"/>
          <p:cNvSpPr txBox="1"/>
          <p:nvPr/>
        </p:nvSpPr>
        <p:spPr>
          <a:xfrm>
            <a:off x="457200" y="2948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005840" y="292608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Cleanup: cgroup kill, parent-death signal, write-ahead metadata and undo lists leave no orphans.</a:t>
            </a:r>
            <a:endParaRPr lang="en-US" sz="1400" dirty="0"/>
          </a:p>
        </p:txBody>
      </p:sp>
      <p:sp>
        <p:nvSpPr>
          <p:cNvPr id="19" name="Lifecycle heading"/>
          <p:cNvSpPr txBox="1"/>
          <p:nvPr/>
        </p:nvSpPr>
        <p:spPr>
          <a:xfrm>
            <a:off x="41148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VM lifecycle</a:t>
            </a:r>
            <a:endParaRPr lang="en-US" sz="1400" dirty="0"/>
          </a:p>
        </p:txBody>
      </p:sp>
      <p:sp>
        <p:nvSpPr>
          <p:cNvPr id="20" name="State PENDING"/>
          <p:cNvSpPr/>
          <p:nvPr/>
        </p:nvSpPr>
        <p:spPr>
          <a:xfrm>
            <a:off x="41148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21" name="State label PENDING"/>
          <p:cNvSpPr txBox="1"/>
          <p:nvPr/>
        </p:nvSpPr>
        <p:spPr>
          <a:xfrm>
            <a:off x="41148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PENDING</a:t>
            </a:r>
            <a:endParaRPr lang="en-US" sz="1200" dirty="0"/>
          </a:p>
        </p:txBody>
      </p:sp>
      <p:sp>
        <p:nvSpPr>
          <p:cNvPr id="22" name="Transition 1"/>
          <p:cNvSpPr/>
          <p:nvPr/>
        </p:nvSpPr>
        <p:spPr>
          <a:xfrm>
            <a:off x="1783080" y="4233672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tate CREATED"/>
          <p:cNvSpPr/>
          <p:nvPr/>
        </p:nvSpPr>
        <p:spPr>
          <a:xfrm>
            <a:off x="214884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24" name="State label CREATED"/>
          <p:cNvSpPr txBox="1"/>
          <p:nvPr/>
        </p:nvSpPr>
        <p:spPr>
          <a:xfrm>
            <a:off x="214884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CREATED</a:t>
            </a:r>
            <a:endParaRPr lang="en-US" sz="1200" dirty="0"/>
          </a:p>
        </p:txBody>
      </p:sp>
      <p:sp>
        <p:nvSpPr>
          <p:cNvPr id="25" name="Transition 2"/>
          <p:cNvSpPr/>
          <p:nvPr/>
        </p:nvSpPr>
        <p:spPr>
          <a:xfrm>
            <a:off x="3520440" y="4233672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tate RUNNING"/>
          <p:cNvSpPr/>
          <p:nvPr/>
        </p:nvSpPr>
        <p:spPr>
          <a:xfrm>
            <a:off x="388620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27" name="State label RUNNING"/>
          <p:cNvSpPr txBox="1"/>
          <p:nvPr/>
        </p:nvSpPr>
        <p:spPr>
          <a:xfrm>
            <a:off x="388620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RUNNING</a:t>
            </a:r>
            <a:endParaRPr lang="en-US" sz="1200" dirty="0"/>
          </a:p>
        </p:txBody>
      </p:sp>
      <p:sp>
        <p:nvSpPr>
          <p:cNvPr id="28" name="Transition 3"/>
          <p:cNvSpPr/>
          <p:nvPr/>
        </p:nvSpPr>
        <p:spPr>
          <a:xfrm>
            <a:off x="5257800" y="4233672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tate STOPPED"/>
          <p:cNvSpPr/>
          <p:nvPr/>
        </p:nvSpPr>
        <p:spPr>
          <a:xfrm>
            <a:off x="562356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30" name="State label STOPPED"/>
          <p:cNvSpPr txBox="1"/>
          <p:nvPr/>
        </p:nvSpPr>
        <p:spPr>
          <a:xfrm>
            <a:off x="562356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STOPPED</a:t>
            </a:r>
            <a:endParaRPr lang="en-US" sz="1200" dirty="0"/>
          </a:p>
        </p:txBody>
      </p:sp>
      <p:sp>
        <p:nvSpPr>
          <p:cNvPr id="31" name="Transition 4"/>
          <p:cNvSpPr/>
          <p:nvPr/>
        </p:nvSpPr>
        <p:spPr>
          <a:xfrm>
            <a:off x="6995160" y="4233672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tate DELETED"/>
          <p:cNvSpPr/>
          <p:nvPr/>
        </p:nvSpPr>
        <p:spPr>
          <a:xfrm>
            <a:off x="736092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3" name="State label DELETED"/>
          <p:cNvSpPr txBox="1"/>
          <p:nvPr/>
        </p:nvSpPr>
        <p:spPr>
          <a:xfrm>
            <a:off x="7360920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DELETED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Cloud Hypervisor Integration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management API calls each worker agent relies on.</a:t>
            </a:r>
            <a:endParaRPr lang="en-US" sz="1500" dirty="0"/>
          </a:p>
        </p:txBody>
      </p:sp>
      <p:sp>
        <p:nvSpPr>
          <p:cNvPr id="7" name="Callout card"/>
          <p:cNvSpPr/>
          <p:nvPr/>
        </p:nvSpPr>
        <p:spPr>
          <a:xfrm>
            <a:off x="411480" y="1463040"/>
            <a:ext cx="2926080" cy="2926080"/>
          </a:xfrm>
          <a:prstGeom prst="roundRect">
            <a:avLst>
              <a:gd name="adj" fmla="val 2500"/>
            </a:avLst>
          </a:prstGeom>
          <a:solidFill>
            <a:schemeClr val="accent4"/>
          </a:solidFill>
          <a:ln/>
        </p:spPr>
      </p:sp>
      <p:sp>
        <p:nvSpPr>
          <p:cNvPr id="8" name="Callout number"/>
          <p:cNvSpPr txBox="1"/>
          <p:nvPr/>
        </p:nvSpPr>
        <p:spPr>
          <a:xfrm>
            <a:off x="6400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1 : 1</a:t>
            </a:r>
            <a:endParaRPr lang="en-US" sz="4800" dirty="0"/>
          </a:p>
        </p:txBody>
      </p:sp>
      <p:sp>
        <p:nvSpPr>
          <p:cNvPr id="9" name="Callout text"/>
          <p:cNvSpPr txBox="1"/>
          <p:nvPr/>
        </p:nvSpPr>
        <p:spPr>
          <a:xfrm>
            <a:off x="640080" y="25603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 cloud-hypervisor process per VM, driven over its own UNIX socket. “List VMs” really means “ask each supervised process”.</a:t>
            </a:r>
            <a:endParaRPr lang="en-US" sz="1300" dirty="0"/>
          </a:p>
        </p:txBody>
      </p:sp>
      <p:graphicFrame>
        <p:nvGraphicFramePr>
          <p:cNvPr id="10" name="Endpoi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 (/api/v1/)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vmm.ping  GET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Health and version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vm.create  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Define VM, do not boot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vm.boot  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Boot a created VM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vm.info  GET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Config and state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vm.shutdown  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Stop the guest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vm.delete  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Remove definition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Two Small APIs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operator-facing API on the controller, one internal API on each worker.</a:t>
            </a:r>
            <a:endParaRPr lang="en-US" sz="1500" dirty="0"/>
          </a:p>
        </p:txBody>
      </p:sp>
      <p:sp>
        <p:nvSpPr>
          <p:cNvPr id="7" name="API card 1"/>
          <p:cNvSpPr/>
          <p:nvPr/>
        </p:nvSpPr>
        <p:spPr>
          <a:xfrm>
            <a:off x="411480" y="146304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8" name="API title 1"/>
          <p:cNvSpPr txBox="1"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Controller API (operators)</a:t>
            </a:r>
            <a:endParaRPr lang="en-US" sz="1600" dirty="0"/>
          </a:p>
        </p:txBody>
      </p:sp>
      <p:sp>
        <p:nvSpPr>
          <p:cNvPr id="9" name="Endpoint 1.1"/>
          <p:cNvSpPr txBox="1"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</a:t>
            </a:r>
            <a:endParaRPr lang="en-US" sz="1300" dirty="0"/>
          </a:p>
        </p:txBody>
      </p:sp>
      <p:sp>
        <p:nvSpPr>
          <p:cNvPr id="10" name="Endpoint desc 1.1"/>
          <p:cNvSpPr txBox="1"/>
          <p:nvPr/>
        </p:nvSpPr>
        <p:spPr>
          <a:xfrm>
            <a:off x="301752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create</a:t>
            </a:r>
            <a:endParaRPr lang="en-US" sz="1200" dirty="0"/>
          </a:p>
        </p:txBody>
      </p:sp>
      <p:sp>
        <p:nvSpPr>
          <p:cNvPr id="11" name="Endpoint 1.2"/>
          <p:cNvSpPr txBox="1"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 /v1/vms</a:t>
            </a:r>
            <a:endParaRPr lang="en-US" sz="1300" dirty="0"/>
          </a:p>
        </p:txBody>
      </p:sp>
      <p:sp>
        <p:nvSpPr>
          <p:cNvPr id="12" name="Endpoint desc 1.2"/>
          <p:cNvSpPr txBox="1"/>
          <p:nvPr/>
        </p:nvSpPr>
        <p:spPr>
          <a:xfrm>
            <a:off x="30175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list</a:t>
            </a:r>
            <a:endParaRPr lang="en-US" sz="1200" dirty="0"/>
          </a:p>
        </p:txBody>
      </p:sp>
      <p:sp>
        <p:nvSpPr>
          <p:cNvPr id="13" name="Endpoint 1.3"/>
          <p:cNvSpPr txBox="1"/>
          <p:nvPr/>
        </p:nvSpPr>
        <p:spPr>
          <a:xfrm>
            <a:off x="6400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/v1/vms/{id}/start</a:t>
            </a:r>
            <a:endParaRPr lang="en-US" sz="1300" dirty="0"/>
          </a:p>
        </p:txBody>
      </p:sp>
      <p:sp>
        <p:nvSpPr>
          <p:cNvPr id="14" name="Endpoint desc 1.3"/>
          <p:cNvSpPr txBox="1"/>
          <p:nvPr/>
        </p:nvSpPr>
        <p:spPr>
          <a:xfrm>
            <a:off x="301752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start</a:t>
            </a:r>
            <a:endParaRPr lang="en-US" sz="1200" dirty="0"/>
          </a:p>
        </p:txBody>
      </p:sp>
      <p:sp>
        <p:nvSpPr>
          <p:cNvPr id="15" name="Endpoint 1.4"/>
          <p:cNvSpPr txBox="1"/>
          <p:nvPr/>
        </p:nvSpPr>
        <p:spPr>
          <a:xfrm>
            <a:off x="6400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/v1/vms/{id}/stop</a:t>
            </a:r>
            <a:endParaRPr lang="en-US" sz="1300" dirty="0"/>
          </a:p>
        </p:txBody>
      </p:sp>
      <p:sp>
        <p:nvSpPr>
          <p:cNvPr id="16" name="Endpoint desc 1.4"/>
          <p:cNvSpPr txBox="1"/>
          <p:nvPr/>
        </p:nvSpPr>
        <p:spPr>
          <a:xfrm>
            <a:off x="301752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stop</a:t>
            </a:r>
            <a:endParaRPr lang="en-US" sz="1200" dirty="0"/>
          </a:p>
        </p:txBody>
      </p:sp>
      <p:sp>
        <p:nvSpPr>
          <p:cNvPr id="17" name="Endpoint 1.5"/>
          <p:cNvSpPr txBox="1"/>
          <p:nvPr/>
        </p:nvSpPr>
        <p:spPr>
          <a:xfrm>
            <a:off x="64008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DELETE /v1/vms/{id}</a:t>
            </a:r>
            <a:endParaRPr lang="en-US" sz="1300" dirty="0"/>
          </a:p>
        </p:txBody>
      </p:sp>
      <p:sp>
        <p:nvSpPr>
          <p:cNvPr id="18" name="Endpoint desc 1.5"/>
          <p:cNvSpPr txBox="1"/>
          <p:nvPr/>
        </p:nvSpPr>
        <p:spPr>
          <a:xfrm>
            <a:off x="301752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delete</a:t>
            </a:r>
            <a:endParaRPr lang="en-US" sz="1200" dirty="0"/>
          </a:p>
        </p:txBody>
      </p:sp>
      <p:sp>
        <p:nvSpPr>
          <p:cNvPr id="19" name="Endpoint 1.6"/>
          <p:cNvSpPr txBox="1"/>
          <p:nvPr/>
        </p:nvSpPr>
        <p:spPr>
          <a:xfrm>
            <a:off x="64008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 /v1/workers</a:t>
            </a:r>
            <a:endParaRPr lang="en-US" sz="1300" dirty="0"/>
          </a:p>
        </p:txBody>
      </p:sp>
      <p:sp>
        <p:nvSpPr>
          <p:cNvPr id="20" name="Endpoint desc 1.6"/>
          <p:cNvSpPr txBox="1"/>
          <p:nvPr/>
        </p:nvSpPr>
        <p:spPr>
          <a:xfrm>
            <a:off x="301752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capacity</a:t>
            </a:r>
            <a:endParaRPr lang="en-US" sz="1200" dirty="0"/>
          </a:p>
        </p:txBody>
      </p:sp>
      <p:sp>
        <p:nvSpPr>
          <p:cNvPr id="21" name="API card 2"/>
          <p:cNvSpPr/>
          <p:nvPr/>
        </p:nvSpPr>
        <p:spPr>
          <a:xfrm>
            <a:off x="4663440" y="146304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22" name="API title 2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Worker API (controller only)</a:t>
            </a:r>
            <a:endParaRPr lang="en-US" sz="1600" dirty="0"/>
          </a:p>
        </p:txBody>
      </p:sp>
      <p:sp>
        <p:nvSpPr>
          <p:cNvPr id="23" name="Endpoint 2.1"/>
          <p:cNvSpPr txBox="1"/>
          <p:nvPr/>
        </p:nvSpPr>
        <p:spPr>
          <a:xfrm>
            <a:off x="48920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</a:t>
            </a:r>
            <a:endParaRPr lang="en-US" sz="1300" dirty="0"/>
          </a:p>
        </p:txBody>
      </p:sp>
      <p:sp>
        <p:nvSpPr>
          <p:cNvPr id="24" name="Endpoint desc 2.1"/>
          <p:cNvSpPr txBox="1"/>
          <p:nvPr/>
        </p:nvSpPr>
        <p:spPr>
          <a:xfrm>
            <a:off x="726948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spawn + define</a:t>
            </a:r>
            <a:endParaRPr lang="en-US" sz="1200" dirty="0"/>
          </a:p>
        </p:txBody>
      </p:sp>
      <p:sp>
        <p:nvSpPr>
          <p:cNvPr id="25" name="Endpoint 2.2"/>
          <p:cNvSpPr txBox="1"/>
          <p:nvPr/>
        </p:nvSpPr>
        <p:spPr>
          <a:xfrm>
            <a:off x="48920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 /v1/vms</a:t>
            </a:r>
            <a:endParaRPr lang="en-US" sz="1300" dirty="0"/>
          </a:p>
        </p:txBody>
      </p:sp>
      <p:sp>
        <p:nvSpPr>
          <p:cNvPr id="26" name="Endpoint desc 2.2"/>
          <p:cNvSpPr txBox="1"/>
          <p:nvPr/>
        </p:nvSpPr>
        <p:spPr>
          <a:xfrm>
            <a:off x="726948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state</a:t>
            </a:r>
            <a:endParaRPr lang="en-US" sz="1200" dirty="0"/>
          </a:p>
        </p:txBody>
      </p:sp>
      <p:sp>
        <p:nvSpPr>
          <p:cNvPr id="27" name="Endpoint 2.3"/>
          <p:cNvSpPr txBox="1"/>
          <p:nvPr/>
        </p:nvSpPr>
        <p:spPr>
          <a:xfrm>
            <a:off x="48920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/v1/vms/{id}/start</a:t>
            </a:r>
            <a:endParaRPr lang="en-US" sz="1300" dirty="0"/>
          </a:p>
        </p:txBody>
      </p:sp>
      <p:sp>
        <p:nvSpPr>
          <p:cNvPr id="28" name="Endpoint desc 2.3"/>
          <p:cNvSpPr txBox="1"/>
          <p:nvPr/>
        </p:nvSpPr>
        <p:spPr>
          <a:xfrm>
            <a:off x="726948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boot</a:t>
            </a:r>
            <a:endParaRPr lang="en-US" sz="1200" dirty="0"/>
          </a:p>
        </p:txBody>
      </p:sp>
      <p:sp>
        <p:nvSpPr>
          <p:cNvPr id="29" name="Endpoint 2.4"/>
          <p:cNvSpPr txBox="1"/>
          <p:nvPr/>
        </p:nvSpPr>
        <p:spPr>
          <a:xfrm>
            <a:off x="48920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/v1/vms/{id}/stop</a:t>
            </a:r>
            <a:endParaRPr lang="en-US" sz="1300" dirty="0"/>
          </a:p>
        </p:txBody>
      </p:sp>
      <p:sp>
        <p:nvSpPr>
          <p:cNvPr id="30" name="Endpoint desc 2.4"/>
          <p:cNvSpPr txBox="1"/>
          <p:nvPr/>
        </p:nvSpPr>
        <p:spPr>
          <a:xfrm>
            <a:off x="72694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stop + reap</a:t>
            </a:r>
            <a:endParaRPr lang="en-US" sz="1200" dirty="0"/>
          </a:p>
        </p:txBody>
      </p:sp>
      <p:sp>
        <p:nvSpPr>
          <p:cNvPr id="31" name="Endpoint 2.5"/>
          <p:cNvSpPr txBox="1"/>
          <p:nvPr/>
        </p:nvSpPr>
        <p:spPr>
          <a:xfrm>
            <a:off x="489204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DELETE /v1/vms/{id}</a:t>
            </a:r>
            <a:endParaRPr lang="en-US" sz="1300" dirty="0"/>
          </a:p>
        </p:txBody>
      </p:sp>
      <p:sp>
        <p:nvSpPr>
          <p:cNvPr id="32" name="Endpoint desc 2.5"/>
          <p:cNvSpPr txBox="1"/>
          <p:nvPr/>
        </p:nvSpPr>
        <p:spPr>
          <a:xfrm>
            <a:off x="726948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clean up</a:t>
            </a:r>
            <a:endParaRPr lang="en-US" sz="1200" dirty="0"/>
          </a:p>
        </p:txBody>
      </p:sp>
      <p:sp>
        <p:nvSpPr>
          <p:cNvPr id="33" name="Endpoint 2.6"/>
          <p:cNvSpPr txBox="1"/>
          <p:nvPr/>
        </p:nvSpPr>
        <p:spPr>
          <a:xfrm>
            <a:off x="48920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 /v1/capacity</a:t>
            </a:r>
            <a:endParaRPr lang="en-US" sz="1300" dirty="0"/>
          </a:p>
        </p:txBody>
      </p:sp>
      <p:sp>
        <p:nvSpPr>
          <p:cNvPr id="34" name="Endpoint desc 2.6"/>
          <p:cNvSpPr txBox="1"/>
          <p:nvPr/>
        </p:nvSpPr>
        <p:spPr>
          <a:xfrm>
            <a:off x="726948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free memory</a:t>
            </a:r>
            <a:endParaRPr lang="en-US" sz="1200" dirty="0"/>
          </a:p>
        </p:txBody>
      </p:sp>
      <p:sp>
        <p:nvSpPr>
          <p:cNvPr id="35" name="Auth note"/>
          <p:cNvSpPr txBox="1"/>
          <p:nvPr/>
        </p:nvSpPr>
        <p:spPr>
          <a:xfrm>
            <a:off x="411480" y="4389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Auth: Authorization: Bearer token, constant-time compare, TLS, separate credentials per tier.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Memory-based Placement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 a host with enough free RAM, and never overbook.</a:t>
            </a:r>
            <a:endParaRPr lang="en-US" sz="1500" dirty="0"/>
          </a:p>
        </p:txBody>
      </p:sp>
      <p:sp>
        <p:nvSpPr>
          <p:cNvPr id="7" name="Step badge 1"/>
          <p:cNvSpPr/>
          <p:nvPr/>
        </p:nvSpPr>
        <p:spPr>
          <a:xfrm>
            <a:off x="411480" y="14630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 badge 1 label"/>
          <p:cNvSpPr txBox="1"/>
          <p:nvPr/>
        </p:nvSpPr>
        <p:spPr>
          <a:xfrm>
            <a:off x="4114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ep text 1"/>
          <p:cNvSpPr txBox="1"/>
          <p:nvPr/>
        </p:nvSpPr>
        <p:spPr>
          <a:xfrm>
            <a:off x="1005840" y="14630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each healthy worker for capacity</a:t>
            </a:r>
            <a:endParaRPr lang="en-US" sz="1400" dirty="0"/>
          </a:p>
        </p:txBody>
      </p:sp>
      <p:sp>
        <p:nvSpPr>
          <p:cNvPr id="10" name="Step badge 2"/>
          <p:cNvSpPr/>
          <p:nvPr/>
        </p:nvSpPr>
        <p:spPr>
          <a:xfrm>
            <a:off x="411480" y="20482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badge 2 label"/>
          <p:cNvSpPr txBox="1"/>
          <p:nvPr/>
        </p:nvSpPr>
        <p:spPr>
          <a:xfrm>
            <a:off x="41148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text 2"/>
          <p:cNvSpPr txBox="1"/>
          <p:nvPr/>
        </p:nvSpPr>
        <p:spPr>
          <a:xfrm>
            <a:off x="1005840" y="20482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 workers without enough free RAM</a:t>
            </a:r>
            <a:endParaRPr lang="en-US" sz="1400" dirty="0"/>
          </a:p>
        </p:txBody>
      </p:sp>
      <p:sp>
        <p:nvSpPr>
          <p:cNvPr id="13" name="Step badge 3"/>
          <p:cNvSpPr/>
          <p:nvPr/>
        </p:nvSpPr>
        <p:spPr>
          <a:xfrm>
            <a:off x="411480" y="26334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badge 3 label"/>
          <p:cNvSpPr txBox="1"/>
          <p:nvPr/>
        </p:nvSpPr>
        <p:spPr>
          <a:xfrm>
            <a:off x="41148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ep text 3"/>
          <p:cNvSpPr txBox="1"/>
          <p:nvPr/>
        </p:nvSpPr>
        <p:spPr>
          <a:xfrm>
            <a:off x="1005840" y="263347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host with the most free memory</a:t>
            </a:r>
            <a:endParaRPr lang="en-US" sz="1400" dirty="0"/>
          </a:p>
        </p:txBody>
      </p:sp>
      <p:sp>
        <p:nvSpPr>
          <p:cNvPr id="16" name="Step badge 4"/>
          <p:cNvSpPr/>
          <p:nvPr/>
        </p:nvSpPr>
        <p:spPr>
          <a:xfrm>
            <a:off x="411480" y="32186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badge 4 label"/>
          <p:cNvSpPr txBox="1"/>
          <p:nvPr/>
        </p:nvSpPr>
        <p:spPr>
          <a:xfrm>
            <a:off x="41148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text 4"/>
          <p:cNvSpPr txBox="1"/>
          <p:nvPr/>
        </p:nvSpPr>
        <p:spPr>
          <a:xfrm>
            <a:off x="1005840" y="32186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Reserve it in SQLite under a lock</a:t>
            </a:r>
            <a:endParaRPr lang="en-US" sz="1400" dirty="0"/>
          </a:p>
        </p:txBody>
      </p:sp>
      <p:sp>
        <p:nvSpPr>
          <p:cNvPr id="19" name="Step badge 5"/>
          <p:cNvSpPr/>
          <p:nvPr/>
        </p:nvSpPr>
        <p:spPr>
          <a:xfrm>
            <a:off x="411480" y="38039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badge 5 label"/>
          <p:cNvSpPr txBox="1"/>
          <p:nvPr/>
        </p:nvSpPr>
        <p:spPr>
          <a:xfrm>
            <a:off x="41148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tep text 5"/>
          <p:cNvSpPr txBox="1"/>
          <p:nvPr/>
        </p:nvSpPr>
        <p:spPr>
          <a:xfrm>
            <a:off x="1005840" y="38039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 the worker; roll back on failure</a:t>
            </a:r>
            <a:endParaRPr lang="en-US" sz="1400" dirty="0"/>
          </a:p>
        </p:txBody>
      </p:sp>
      <p:sp>
        <p:nvSpPr>
          <p:cNvPr id="22" name="Formula card"/>
          <p:cNvSpPr/>
          <p:nvPr/>
        </p:nvSpPr>
        <p:spPr>
          <a:xfrm>
            <a:off x="5532120" y="1463040"/>
            <a:ext cx="3200400" cy="2834640"/>
          </a:xfrm>
          <a:prstGeom prst="roundRect">
            <a:avLst>
              <a:gd name="adj" fmla="val 2581"/>
            </a:avLst>
          </a:prstGeom>
          <a:solidFill>
            <a:schemeClr val="accent4"/>
          </a:solidFill>
          <a:ln/>
        </p:spPr>
      </p:sp>
      <p:sp>
        <p:nvSpPr>
          <p:cNvPr id="23" name="Formula title"/>
          <p:cNvSpPr txBox="1"/>
          <p:nvPr/>
        </p:nvSpPr>
        <p:spPr>
          <a:xfrm>
            <a:off x="57607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Effective free memory</a:t>
            </a:r>
            <a:endParaRPr lang="en-US" sz="1500" dirty="0"/>
          </a:p>
        </p:txBody>
      </p:sp>
      <p:sp>
        <p:nvSpPr>
          <p:cNvPr id="24" name="Formula"/>
          <p:cNvSpPr txBox="1"/>
          <p:nvPr/>
        </p:nvSpPr>
        <p:spPr>
          <a:xfrm>
            <a:off x="576072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min( MemAvailable − reserve,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total − reserve − Σ guest RAM )</a:t>
            </a:r>
            <a:endParaRPr lang="en-US" sz="1200" dirty="0"/>
          </a:p>
        </p:txBody>
      </p:sp>
      <p:sp>
        <p:nvSpPr>
          <p:cNvPr id="25" name="Formula note"/>
          <p:cNvSpPr txBox="1"/>
          <p:nvPr/>
        </p:nvSpPr>
        <p:spPr>
          <a:xfrm>
            <a:off x="5760720" y="3017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Taking the minimum of the real and committed views guards against guest pages not yet faulted 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Layers of Limits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misbehaving request or guest cannot harm the host.</a:t>
            </a:r>
            <a:endParaRPr lang="en-US" sz="1500" dirty="0"/>
          </a:p>
        </p:txBody>
      </p:sp>
      <p:sp>
        <p:nvSpPr>
          <p:cNvPr id="7" name="Layer card 1"/>
          <p:cNvSpPr/>
          <p:nvPr/>
        </p:nvSpPr>
        <p:spPr>
          <a:xfrm>
            <a:off x="411480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Layer badge 1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Layer badge 1 label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Layer title 1"/>
          <p:cNvSpPr txBox="1"/>
          <p:nvPr/>
        </p:nvSpPr>
        <p:spPr>
          <a:xfrm>
            <a:off x="5943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Admission control</a:t>
            </a:r>
            <a:endParaRPr lang="en-US" sz="1600" dirty="0"/>
          </a:p>
        </p:txBody>
      </p:sp>
      <p:sp>
        <p:nvSpPr>
          <p:cNvPr id="11" name="Layer text 1"/>
          <p:cNvSpPr txBox="1"/>
          <p:nvPr/>
        </p:nvSpPr>
        <p:spPr>
          <a:xfrm>
            <a:off x="594360" y="2578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allowed vCPU and RAM sizes pass; the worker re-validates.</a:t>
            </a:r>
            <a:endParaRPr lang="en-US" sz="1300" dirty="0"/>
          </a:p>
        </p:txBody>
      </p:sp>
      <p:sp>
        <p:nvSpPr>
          <p:cNvPr id="12" name="Layer card 2"/>
          <p:cNvSpPr/>
          <p:nvPr/>
        </p:nvSpPr>
        <p:spPr>
          <a:xfrm>
            <a:off x="3218688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3" name="Layer badge 2"/>
          <p:cNvSpPr/>
          <p:nvPr/>
        </p:nvSpPr>
        <p:spPr>
          <a:xfrm>
            <a:off x="340156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Layer badge 2 label"/>
          <p:cNvSpPr txBox="1"/>
          <p:nvPr/>
        </p:nvSpPr>
        <p:spPr>
          <a:xfrm>
            <a:off x="340156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Layer title 2"/>
          <p:cNvSpPr txBox="1"/>
          <p:nvPr/>
        </p:nvSpPr>
        <p:spPr>
          <a:xfrm>
            <a:off x="3401568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Hypervisor config</a:t>
            </a:r>
            <a:endParaRPr lang="en-US" sz="1600" dirty="0"/>
          </a:p>
        </p:txBody>
      </p:sp>
      <p:sp>
        <p:nvSpPr>
          <p:cNvPr id="16" name="Layer text 2"/>
          <p:cNvSpPr txBox="1"/>
          <p:nvPr/>
        </p:nvSpPr>
        <p:spPr>
          <a:xfrm>
            <a:off x="3401568" y="2578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boot_vcpus equals max_vcpus; memory.size exactly as granted.</a:t>
            </a:r>
            <a:endParaRPr lang="en-US" sz="1300" dirty="0"/>
          </a:p>
        </p:txBody>
      </p:sp>
      <p:sp>
        <p:nvSpPr>
          <p:cNvPr id="17" name="Layer card 3"/>
          <p:cNvSpPr/>
          <p:nvPr/>
        </p:nvSpPr>
        <p:spPr>
          <a:xfrm>
            <a:off x="6025896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8" name="Layer badge 3"/>
          <p:cNvSpPr/>
          <p:nvPr/>
        </p:nvSpPr>
        <p:spPr>
          <a:xfrm>
            <a:off x="6208776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Layer badge 3 label"/>
          <p:cNvSpPr txBox="1"/>
          <p:nvPr/>
        </p:nvSpPr>
        <p:spPr>
          <a:xfrm>
            <a:off x="62087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Layer title 3"/>
          <p:cNvSpPr txBox="1"/>
          <p:nvPr/>
        </p:nvSpPr>
        <p:spPr>
          <a:xfrm>
            <a:off x="6208776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cgroup v2 caps</a:t>
            </a:r>
            <a:endParaRPr lang="en-US" sz="1600" dirty="0"/>
          </a:p>
        </p:txBody>
      </p:sp>
      <p:sp>
        <p:nvSpPr>
          <p:cNvPr id="21" name="Layer text 3"/>
          <p:cNvSpPr txBox="1"/>
          <p:nvPr/>
        </p:nvSpPr>
        <p:spPr>
          <a:xfrm>
            <a:off x="6208776" y="2578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memory.max = RAM + 128 MiB, cpu.max = vCPUs × 100%, pids.max.</a:t>
            </a:r>
            <a:endParaRPr lang="en-US" sz="1300" dirty="0"/>
          </a:p>
        </p:txBody>
      </p:sp>
      <p:sp>
        <p:nvSpPr>
          <p:cNvPr id="22" name="Flavor small"/>
          <p:cNvSpPr/>
          <p:nvPr/>
        </p:nvSpPr>
        <p:spPr>
          <a:xfrm>
            <a:off x="411480" y="374904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</p:sp>
      <p:sp>
        <p:nvSpPr>
          <p:cNvPr id="23" name="Flavor label small"/>
          <p:cNvSpPr txBox="1"/>
          <p:nvPr/>
        </p:nvSpPr>
        <p:spPr>
          <a:xfrm>
            <a:off x="411480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small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 vCPU · 512 MiB</a:t>
            </a:r>
            <a:endParaRPr lang="en-US" sz="1300" dirty="0"/>
          </a:p>
        </p:txBody>
      </p:sp>
      <p:sp>
        <p:nvSpPr>
          <p:cNvPr id="24" name="Flavor medium"/>
          <p:cNvSpPr/>
          <p:nvPr/>
        </p:nvSpPr>
        <p:spPr>
          <a:xfrm>
            <a:off x="3218688" y="374904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</p:sp>
      <p:sp>
        <p:nvSpPr>
          <p:cNvPr id="25" name="Flavor label medium"/>
          <p:cNvSpPr txBox="1"/>
          <p:nvPr/>
        </p:nvSpPr>
        <p:spPr>
          <a:xfrm>
            <a:off x="3218688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medium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 vCPU · 1 GiB</a:t>
            </a:r>
            <a:endParaRPr lang="en-US" sz="1300" dirty="0"/>
          </a:p>
        </p:txBody>
      </p:sp>
      <p:sp>
        <p:nvSpPr>
          <p:cNvPr id="26" name="Flavor large"/>
          <p:cNvSpPr/>
          <p:nvPr/>
        </p:nvSpPr>
        <p:spPr>
          <a:xfrm>
            <a:off x="6025896" y="3749040"/>
            <a:ext cx="26517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/>
        </p:spPr>
      </p:sp>
      <p:sp>
        <p:nvSpPr>
          <p:cNvPr id="27" name="Flavor label large"/>
          <p:cNvSpPr txBox="1"/>
          <p:nvPr/>
        </p:nvSpPr>
        <p:spPr>
          <a:xfrm>
            <a:off x="6025896" y="3749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large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4 vCPU · 2 GiB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Failure Handling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failure ends in a clean, known state.</a:t>
            </a:r>
            <a:endParaRPr lang="en-US" sz="1500" dirty="0"/>
          </a:p>
        </p:txBody>
      </p:sp>
      <p:graphicFrame>
        <p:nvGraphicFramePr>
          <p:cNvPr id="14" name="Fail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94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Failure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 fails to start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Kill cgroup, delete disk copy, mark FAILED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vm.create or vm.boot error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 back through the undo list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Graceful shutdown hangs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vmm.shutdown, then SIGTERM, then cgroup.kill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Worker unreachable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Mark unhealthy, stop placing, VM becomes UNKNOWN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Agent or CH crash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Startup reconcile: adopt or kill; mark FAILED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Controller dies mid-create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Reconciler resolves leftover PENDING rows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Details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 Orphans, by Construction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Five mechanisms that make leaks practically impossible.</a:t>
            </a:r>
            <a:endParaRPr lang="en-US" sz="1500" dirty="0"/>
          </a:p>
        </p:txBody>
      </p:sp>
      <p:sp>
        <p:nvSpPr>
          <p:cNvPr id="7" name="Mechanism row 1"/>
          <p:cNvSpPr/>
          <p:nvPr/>
        </p:nvSpPr>
        <p:spPr>
          <a:xfrm>
            <a:off x="411480" y="1417320"/>
            <a:ext cx="83210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8" name="Mechanism badge 1"/>
          <p:cNvSpPr/>
          <p:nvPr/>
        </p:nvSpPr>
        <p:spPr>
          <a:xfrm>
            <a:off x="548640" y="14721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Mechanism badge 1 label"/>
          <p:cNvSpPr txBox="1"/>
          <p:nvPr/>
        </p:nvSpPr>
        <p:spPr>
          <a:xfrm>
            <a:off x="548640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Mechanism title 1"/>
          <p:cNvSpPr txBox="1"/>
          <p:nvPr/>
        </p:nvSpPr>
        <p:spPr>
          <a:xfrm>
            <a:off x="1188720" y="1417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cgroup per VM</a:t>
            </a:r>
            <a:endParaRPr lang="en-US" sz="1500" dirty="0"/>
          </a:p>
        </p:txBody>
      </p:sp>
      <p:sp>
        <p:nvSpPr>
          <p:cNvPr id="11" name="Mechanism text 1"/>
          <p:cNvSpPr txBox="1"/>
          <p:nvPr/>
        </p:nvSpPr>
        <p:spPr>
          <a:xfrm>
            <a:off x="4023360" y="14173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cgroup.kill ends every descendant at once</a:t>
            </a:r>
            <a:endParaRPr lang="en-US" sz="1300" dirty="0"/>
          </a:p>
        </p:txBody>
      </p:sp>
      <p:sp>
        <p:nvSpPr>
          <p:cNvPr id="12" name="Mechanism row 2"/>
          <p:cNvSpPr/>
          <p:nvPr/>
        </p:nvSpPr>
        <p:spPr>
          <a:xfrm>
            <a:off x="411480" y="2029968"/>
            <a:ext cx="83210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3" name="Mechanism badge 2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Mechanism badge 2 label"/>
          <p:cNvSpPr txBox="1"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Mechanism title 2"/>
          <p:cNvSpPr txBox="1"/>
          <p:nvPr/>
        </p:nvSpPr>
        <p:spPr>
          <a:xfrm>
            <a:off x="1188720" y="20299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Parent-death signal</a:t>
            </a:r>
            <a:endParaRPr lang="en-US" sz="1500" dirty="0"/>
          </a:p>
        </p:txBody>
      </p:sp>
      <p:sp>
        <p:nvSpPr>
          <p:cNvPr id="16" name="Mechanism text 2"/>
          <p:cNvSpPr txBox="1"/>
          <p:nvPr/>
        </p:nvSpPr>
        <p:spPr>
          <a:xfrm>
            <a:off x="4023360" y="2029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PR_SET_PDEATHSIG: VMs die with the agent</a:t>
            </a:r>
            <a:endParaRPr lang="en-US" sz="1300" dirty="0"/>
          </a:p>
        </p:txBody>
      </p:sp>
      <p:sp>
        <p:nvSpPr>
          <p:cNvPr id="17" name="Mechanism row 3"/>
          <p:cNvSpPr/>
          <p:nvPr/>
        </p:nvSpPr>
        <p:spPr>
          <a:xfrm>
            <a:off x="411480" y="2642616"/>
            <a:ext cx="83210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8" name="Mechanism badge 3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Mechanism badge 3 label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Mechanism title 3"/>
          <p:cNvSpPr txBox="1"/>
          <p:nvPr/>
        </p:nvSpPr>
        <p:spPr>
          <a:xfrm>
            <a:off x="1188720" y="26426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Write-ahead metadata</a:t>
            </a:r>
            <a:endParaRPr lang="en-US" sz="1500" dirty="0"/>
          </a:p>
        </p:txBody>
      </p:sp>
      <p:sp>
        <p:nvSpPr>
          <p:cNvPr id="21" name="Mechanism text 3"/>
          <p:cNvSpPr txBox="1"/>
          <p:nvPr/>
        </p:nvSpPr>
        <p:spPr>
          <a:xfrm>
            <a:off x="4023360" y="264261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meta.json written before the spawn</a:t>
            </a:r>
            <a:endParaRPr lang="en-US" sz="1300" dirty="0"/>
          </a:p>
        </p:txBody>
      </p:sp>
      <p:sp>
        <p:nvSpPr>
          <p:cNvPr id="22" name="Mechanism row 4"/>
          <p:cNvSpPr/>
          <p:nvPr/>
        </p:nvSpPr>
        <p:spPr>
          <a:xfrm>
            <a:off x="411480" y="3255264"/>
            <a:ext cx="83210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3" name="Mechanism badge 4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Mechanism badge 4 label"/>
          <p:cNvSpPr txBox="1"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Mechanism title 4"/>
          <p:cNvSpPr txBox="1"/>
          <p:nvPr/>
        </p:nvSpPr>
        <p:spPr>
          <a:xfrm>
            <a:off x="1188720" y="32552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Reconciler loop</a:t>
            </a:r>
            <a:endParaRPr lang="en-US" sz="1500" dirty="0"/>
          </a:p>
        </p:txBody>
      </p:sp>
      <p:sp>
        <p:nvSpPr>
          <p:cNvPr id="26" name="Mechanism text 4"/>
          <p:cNvSpPr txBox="1"/>
          <p:nvPr/>
        </p:nvSpPr>
        <p:spPr>
          <a:xfrm>
            <a:off x="4023360" y="325526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Compares inventory, metadata, live processes</a:t>
            </a:r>
            <a:endParaRPr lang="en-US" sz="1300" dirty="0"/>
          </a:p>
        </p:txBody>
      </p:sp>
      <p:sp>
        <p:nvSpPr>
          <p:cNvPr id="27" name="Mechanism row 5"/>
          <p:cNvSpPr/>
          <p:nvPr/>
        </p:nvSpPr>
        <p:spPr>
          <a:xfrm>
            <a:off x="411480" y="3867912"/>
            <a:ext cx="83210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8" name="Mechanism badge 5"/>
          <p:cNvSpPr/>
          <p:nvPr/>
        </p:nvSpPr>
        <p:spPr>
          <a:xfrm>
            <a:off x="548640" y="39227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Mechanism badge 5 label"/>
          <p:cNvSpPr txBox="1"/>
          <p:nvPr/>
        </p:nvSpPr>
        <p:spPr>
          <a:xfrm>
            <a:off x="54864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Mechanism title 5"/>
          <p:cNvSpPr txBox="1"/>
          <p:nvPr/>
        </p:nvSpPr>
        <p:spPr>
          <a:xfrm>
            <a:off x="1188720" y="38679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Timeouts + undo lists</a:t>
            </a:r>
            <a:endParaRPr lang="en-US" sz="1500" dirty="0"/>
          </a:p>
        </p:txBody>
      </p:sp>
      <p:sp>
        <p:nvSpPr>
          <p:cNvPr id="31" name="Mechanism text 5"/>
          <p:cNvSpPr txBox="1"/>
          <p:nvPr/>
        </p:nvSpPr>
        <p:spPr>
          <a:xfrm>
            <a:off x="4023360" y="38679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call bounded; every step reversible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Solution Optimization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Optimization Proposed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Before (naive design) versus after (proposed design).</a:t>
            </a:r>
            <a:endParaRPr lang="en-US" sz="1500" dirty="0"/>
          </a:p>
        </p:txBody>
      </p:sp>
      <p:graphicFrame>
        <p:nvGraphicFramePr>
          <p:cNvPr id="16" name="Optimiz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566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Aspect</a:t>
                      </a:r>
                      <a:endParaRPr lang="en-US" sz="15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Before: naive approach</a:t>
                      </a:r>
                      <a:endParaRPr lang="en-US" sz="15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After: proposed optimization</a:t>
                      </a:r>
                      <a:endParaRPr lang="en-US" sz="15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Placement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 MemAvailable only; races overcommit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min(real, committed) plus a reservation lock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Teardown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Kill stored PID; children can leak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cgroup.kill, death signal and reconciler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Recorded only, not enforced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Flavors, CH config and cgroup v2 caps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Disk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 image copy per VM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Reflink copy (cp --reflink=auto)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Failures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Ad-hoc error handling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Undo list and rollback per operation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Architecture Design (UML Diagram)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16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Solution Architecture &amp; Design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Visual: controller, two workers and their VM processes.</a:t>
            </a:r>
            <a:endParaRPr lang="en-US" sz="1500" dirty="0"/>
          </a:p>
        </p:txBody>
      </p:sp>
      <p:pic>
        <p:nvPicPr>
          <p:cNvPr id="7" name="Architecture diagram" descr="Deployment diagram: operator to controller to two worker agents, each with cloud-hypervisor VM proce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498080" cy="3099816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Figure: 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System architecture (deployment) diagram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Data Flow Diagram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17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Flow Diagram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Visual: how a request flows through the system.</a:t>
            </a:r>
            <a:endParaRPr lang="en-US" sz="1500" dirty="0"/>
          </a:p>
        </p:txBody>
      </p:sp>
      <p:pic>
        <p:nvPicPr>
          <p:cNvPr id="7" name="Data flow diagram" descr="Data flow diagram with four processes, two data stores and two external ent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498080" cy="3099816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Figure: 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Flow Diagram (DFD)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Implementation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18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Pseudocode: Create Path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Controller placement and worker spawn, with rollback on any error.</a:t>
            </a:r>
            <a:endParaRPr lang="en-US" sz="1500" dirty="0"/>
          </a:p>
        </p:txBody>
      </p:sp>
      <p:sp>
        <p:nvSpPr>
          <p:cNvPr id="7" name="Code panel 1"/>
          <p:cNvSpPr/>
          <p:nvPr/>
        </p:nvSpPr>
        <p:spPr>
          <a:xfrm>
            <a:off x="411480" y="146304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8" name="Code title 1"/>
          <p:cNvSpPr txBox="1"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9" name="Code 1"/>
          <p:cNvSpPr txBox="1"/>
          <p:nvPr/>
        </p:nvSpPr>
        <p:spPr>
          <a:xfrm>
            <a:off x="64008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create_vm(req):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authenticate(req)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 = validate(req)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placement_lock: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best_fit(workers, spec.mem)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w: raise NoCapacity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vm = db.insert(PENDING, w)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w.post("/v1/vms", vm.id, spec)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db.set(vm, CREATED)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w.try_delete(vm.id)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db.set(vm, FAILED); raise</a:t>
            </a:r>
            <a:endParaRPr lang="en-US" sz="1150" dirty="0"/>
          </a:p>
        </p:txBody>
      </p:sp>
      <p:sp>
        <p:nvSpPr>
          <p:cNvPr id="10" name="Code panel 2"/>
          <p:cNvSpPr/>
          <p:nvPr/>
        </p:nvSpPr>
        <p:spPr>
          <a:xfrm>
            <a:off x="4663440" y="146304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1" name="Code title 2"/>
          <p:cNvSpPr txBox="1"/>
          <p:nvPr/>
        </p:nvSpPr>
        <p:spPr>
          <a:xfrm>
            <a:off x="48920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Worker agent</a:t>
            </a:r>
            <a:endParaRPr lang="en-US" sz="1300" dirty="0"/>
          </a:p>
        </p:txBody>
      </p:sp>
      <p:sp>
        <p:nvSpPr>
          <p:cNvPr id="12" name="Code 2"/>
          <p:cNvSpPr txBox="1"/>
          <p:nvPr/>
        </p:nvSpPr>
        <p:spPr>
          <a:xfrm>
            <a:off x="489204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agent_create(id, spec):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check_limits(spec)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write_meta(id, "creating")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disk = reflink(BASE_IMG)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cg = cgroup(mem_max, cpu_max)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 = spawn_ch(sock, in=cg)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wait_ping(sock, 5s)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ch.put("vm.create", cfg(spec))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write_meta(id, "created")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run_undo(); remove_meta(id)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Validation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 Strategy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Unit, lifecycle, two-host placement and failure-injection tests.</a:t>
            </a:r>
            <a:endParaRPr lang="en-US" sz="1500" dirty="0"/>
          </a:p>
        </p:txBody>
      </p:sp>
      <p:sp>
        <p:nvSpPr>
          <p:cNvPr id="7" name="Test card 1"/>
          <p:cNvSpPr/>
          <p:nvPr/>
        </p:nvSpPr>
        <p:spPr>
          <a:xfrm>
            <a:off x="411480" y="1463040"/>
            <a:ext cx="402336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st title 1"/>
          <p:cNvSpPr txBox="1"/>
          <p:nvPr/>
        </p:nvSpPr>
        <p:spPr>
          <a:xfrm>
            <a:off x="64008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Unit (no KVM)</a:t>
            </a:r>
            <a:endParaRPr lang="en-US" sz="1600" dirty="0"/>
          </a:p>
        </p:txBody>
      </p:sp>
      <p:sp>
        <p:nvSpPr>
          <p:cNvPr id="9" name="Test text 1"/>
          <p:cNvSpPr txBox="1"/>
          <p:nvPr/>
        </p:nvSpPr>
        <p:spPr>
          <a:xfrm>
            <a:off x="640080" y="19659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Placement, validation, auth, state machine, fake CH socket.</a:t>
            </a:r>
            <a:endParaRPr lang="en-US" sz="1300" dirty="0"/>
          </a:p>
        </p:txBody>
      </p:sp>
      <p:sp>
        <p:nvSpPr>
          <p:cNvPr id="10" name="Test card 2"/>
          <p:cNvSpPr/>
          <p:nvPr/>
        </p:nvSpPr>
        <p:spPr>
          <a:xfrm>
            <a:off x="4663440" y="1463040"/>
            <a:ext cx="402336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Test title 2"/>
          <p:cNvSpPr txBox="1"/>
          <p:nvPr/>
        </p:nvSpPr>
        <p:spPr>
          <a:xfrm>
            <a:off x="489204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Lifecycle</a:t>
            </a:r>
            <a:endParaRPr lang="en-US" sz="1600" dirty="0"/>
          </a:p>
        </p:txBody>
      </p:sp>
      <p:sp>
        <p:nvSpPr>
          <p:cNvPr id="12" name="Test text 2"/>
          <p:cNvSpPr txBox="1"/>
          <p:nvPr/>
        </p:nvSpPr>
        <p:spPr>
          <a:xfrm>
            <a:off x="4892040" y="19659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Create, start, stop, delete; nothing left behind.</a:t>
            </a:r>
            <a:endParaRPr lang="en-US" sz="1300" dirty="0"/>
          </a:p>
        </p:txBody>
      </p:sp>
      <p:sp>
        <p:nvSpPr>
          <p:cNvPr id="13" name="Test card 3"/>
          <p:cNvSpPr/>
          <p:nvPr/>
        </p:nvSpPr>
        <p:spPr>
          <a:xfrm>
            <a:off x="411480" y="2743200"/>
            <a:ext cx="402336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4" name="Test title 3"/>
          <p:cNvSpPr txBox="1"/>
          <p:nvPr/>
        </p:nvSpPr>
        <p:spPr>
          <a:xfrm>
            <a:off x="64008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Two-host placement</a:t>
            </a:r>
            <a:endParaRPr lang="en-US" sz="1600" dirty="0"/>
          </a:p>
        </p:txBody>
      </p:sp>
      <p:sp>
        <p:nvSpPr>
          <p:cNvPr id="15" name="Test text 3"/>
          <p:cNvSpPr txBox="1"/>
          <p:nvPr/>
        </p:nvSpPr>
        <p:spPr>
          <a:xfrm>
            <a:off x="640080" y="3246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Fill Host 1, spill to Host 2, reject oversize.</a:t>
            </a:r>
            <a:endParaRPr lang="en-US" sz="1300" dirty="0"/>
          </a:p>
        </p:txBody>
      </p:sp>
      <p:sp>
        <p:nvSpPr>
          <p:cNvPr id="16" name="Test card 4"/>
          <p:cNvSpPr/>
          <p:nvPr/>
        </p:nvSpPr>
        <p:spPr>
          <a:xfrm>
            <a:off x="4663440" y="2743200"/>
            <a:ext cx="402336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7" name="Test title 4"/>
          <p:cNvSpPr txBox="1"/>
          <p:nvPr/>
        </p:nvSpPr>
        <p:spPr>
          <a:xfrm>
            <a:off x="4892040" y="2852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Failure injection</a:t>
            </a:r>
            <a:endParaRPr lang="en-US" sz="1600" dirty="0"/>
          </a:p>
        </p:txBody>
      </p:sp>
      <p:sp>
        <p:nvSpPr>
          <p:cNvPr id="18" name="Test text 4"/>
          <p:cNvSpPr txBox="1"/>
          <p:nvPr/>
        </p:nvSpPr>
        <p:spPr>
          <a:xfrm>
            <a:off x="4892040" y="3246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kill -9 CH or agent, block worker port, kill controller.</a:t>
            </a:r>
            <a:endParaRPr lang="en-US" sz="1300" dirty="0"/>
          </a:p>
        </p:txBody>
      </p:sp>
      <p:sp>
        <p:nvSpPr>
          <p:cNvPr id="19" name="Leak check band"/>
          <p:cNvSpPr/>
          <p:nvPr/>
        </p:nvSpPr>
        <p:spPr>
          <a:xfrm>
            <a:off x="411480" y="4069080"/>
            <a:ext cx="83210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20" name="Leak check text"/>
          <p:cNvSpPr txBox="1"/>
          <p:nvPr/>
        </p:nvSpPr>
        <p:spPr>
          <a:xfrm>
            <a:off x="411480" y="4069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Leak check after every test:  </a:t>
            </a:r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processes, cgroups, sockets and disks match inventory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Validation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20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Demonstration and Deliverables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the mentor sees, and what we hand over.</a:t>
            </a:r>
            <a:endParaRPr lang="en-US" sz="1500" dirty="0"/>
          </a:p>
        </p:txBody>
      </p:sp>
      <p:sp>
        <p:nvSpPr>
          <p:cNvPr id="7" name="Close card 1"/>
          <p:cNvSpPr/>
          <p:nvPr/>
        </p:nvSpPr>
        <p:spPr>
          <a:xfrm>
            <a:off x="411480" y="146304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8" name="Close heading 1"/>
          <p:cNvSpPr txBox="1"/>
          <p:nvPr/>
        </p:nvSpPr>
        <p:spPr>
          <a:xfrm>
            <a:off x="68580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Live demo (5–7 min)</a:t>
            </a:r>
            <a:endParaRPr lang="en-US" sz="1800" dirty="0"/>
          </a:p>
        </p:txBody>
      </p:sp>
      <p:sp>
        <p:nvSpPr>
          <p:cNvPr id="9" name="Close badge 1.1"/>
          <p:cNvSpPr/>
          <p:nvPr/>
        </p:nvSpPr>
        <p:spPr>
          <a:xfrm>
            <a:off x="685800" y="208483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lose badge 1.1 label"/>
          <p:cNvSpPr txBox="1"/>
          <p:nvPr/>
        </p:nvSpPr>
        <p:spPr>
          <a:xfrm>
            <a:off x="68580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Close item 1.1"/>
          <p:cNvSpPr txBox="1"/>
          <p:nvPr/>
        </p:nvSpPr>
        <p:spPr>
          <a:xfrm>
            <a:off x="1188720" y="20574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Workers healthy; place two VMs by memory</a:t>
            </a:r>
            <a:endParaRPr lang="en-US" sz="1300" dirty="0"/>
          </a:p>
        </p:txBody>
      </p:sp>
      <p:sp>
        <p:nvSpPr>
          <p:cNvPr id="12" name="Close badge 1.2"/>
          <p:cNvSpPr/>
          <p:nvPr/>
        </p:nvSpPr>
        <p:spPr>
          <a:xfrm>
            <a:off x="685800" y="25603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Close badge 1.2 label"/>
          <p:cNvSpPr txBox="1"/>
          <p:nvPr/>
        </p:nvSpPr>
        <p:spPr>
          <a:xfrm>
            <a:off x="6858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Close item 1.2"/>
          <p:cNvSpPr txBox="1"/>
          <p:nvPr/>
        </p:nvSpPr>
        <p:spPr>
          <a:xfrm>
            <a:off x="1188720" y="253288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both; show serial output or ping</a:t>
            </a:r>
            <a:endParaRPr lang="en-US" sz="1300" dirty="0"/>
          </a:p>
        </p:txBody>
      </p:sp>
      <p:sp>
        <p:nvSpPr>
          <p:cNvPr id="15" name="Close badge 1.3"/>
          <p:cNvSpPr/>
          <p:nvPr/>
        </p:nvSpPr>
        <p:spPr>
          <a:xfrm>
            <a:off x="685800" y="303580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lose badge 1.3 label"/>
          <p:cNvSpPr txBox="1"/>
          <p:nvPr/>
        </p:nvSpPr>
        <p:spPr>
          <a:xfrm>
            <a:off x="68580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Close item 1.3"/>
          <p:cNvSpPr txBox="1"/>
          <p:nvPr/>
        </p:nvSpPr>
        <p:spPr>
          <a:xfrm>
            <a:off x="1188720" y="30083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Reject a VM too large for either host</a:t>
            </a:r>
            <a:endParaRPr lang="en-US" sz="1300" dirty="0"/>
          </a:p>
        </p:txBody>
      </p:sp>
      <p:sp>
        <p:nvSpPr>
          <p:cNvPr id="18" name="Close badge 1.4"/>
          <p:cNvSpPr/>
          <p:nvPr/>
        </p:nvSpPr>
        <p:spPr>
          <a:xfrm>
            <a:off x="685800" y="3511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Close badge 1.4 label"/>
          <p:cNvSpPr txBox="1"/>
          <p:nvPr/>
        </p:nvSpPr>
        <p:spPr>
          <a:xfrm>
            <a:off x="6858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Close item 1.4"/>
          <p:cNvSpPr txBox="1"/>
          <p:nvPr/>
        </p:nvSpPr>
        <p:spPr>
          <a:xfrm>
            <a:off x="1188720" y="34838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Kill a CH process; show FAILED, memory freed</a:t>
            </a:r>
            <a:endParaRPr lang="en-US" sz="1300" dirty="0"/>
          </a:p>
        </p:txBody>
      </p:sp>
      <p:sp>
        <p:nvSpPr>
          <p:cNvPr id="21" name="Close badge 1.5"/>
          <p:cNvSpPr/>
          <p:nvPr/>
        </p:nvSpPr>
        <p:spPr>
          <a:xfrm>
            <a:off x="685800" y="3986784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Close badge 1.5 label"/>
          <p:cNvSpPr txBox="1"/>
          <p:nvPr/>
        </p:nvSpPr>
        <p:spPr>
          <a:xfrm>
            <a:off x="6858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Close item 1.5"/>
          <p:cNvSpPr txBox="1"/>
          <p:nvPr/>
        </p:nvSpPr>
        <p:spPr>
          <a:xfrm>
            <a:off x="1188720" y="39593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Stop, delete, then run the leak check</a:t>
            </a:r>
            <a:endParaRPr lang="en-US" sz="1300" dirty="0"/>
          </a:p>
        </p:txBody>
      </p:sp>
      <p:sp>
        <p:nvSpPr>
          <p:cNvPr id="24" name="Close card 2"/>
          <p:cNvSpPr/>
          <p:nvPr/>
        </p:nvSpPr>
        <p:spPr>
          <a:xfrm>
            <a:off x="4663440" y="146304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25" name="Close heading 2"/>
          <p:cNvSpPr txBox="1"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Deliverables</a:t>
            </a:r>
            <a:endParaRPr lang="en-US" sz="1800" dirty="0"/>
          </a:p>
        </p:txBody>
      </p:sp>
      <p:sp>
        <p:nvSpPr>
          <p:cNvPr id="26" name="Close badge 2.1"/>
          <p:cNvSpPr/>
          <p:nvPr/>
        </p:nvSpPr>
        <p:spPr>
          <a:xfrm>
            <a:off x="4937760" y="208483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Close badge 2.1 label"/>
          <p:cNvSpPr txBox="1"/>
          <p:nvPr/>
        </p:nvSpPr>
        <p:spPr>
          <a:xfrm>
            <a:off x="493776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Close item 2.1"/>
          <p:cNvSpPr txBox="1"/>
          <p:nvPr/>
        </p:nvSpPr>
        <p:spPr>
          <a:xfrm>
            <a:off x="5440680" y="20574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Private repo A3-PS023-TC301</a:t>
            </a:r>
            <a:endParaRPr lang="en-US" sz="1300" dirty="0"/>
          </a:p>
        </p:txBody>
      </p:sp>
      <p:sp>
        <p:nvSpPr>
          <p:cNvPr id="29" name="Close badge 2.2"/>
          <p:cNvSpPr/>
          <p:nvPr/>
        </p:nvSpPr>
        <p:spPr>
          <a:xfrm>
            <a:off x="4937760" y="25603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lose badge 2.2 label"/>
          <p:cNvSpPr txBox="1"/>
          <p:nvPr/>
        </p:nvSpPr>
        <p:spPr>
          <a:xfrm>
            <a:off x="49377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Close item 2.2"/>
          <p:cNvSpPr txBox="1"/>
          <p:nvPr/>
        </p:nvSpPr>
        <p:spPr>
          <a:xfrm>
            <a:off x="5440680" y="253288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aiori-hackathon; transfer ownership</a:t>
            </a:r>
            <a:endParaRPr lang="en-US" sz="1300" dirty="0"/>
          </a:p>
        </p:txBody>
      </p:sp>
      <p:sp>
        <p:nvSpPr>
          <p:cNvPr id="32" name="Close badge 2.3"/>
          <p:cNvSpPr/>
          <p:nvPr/>
        </p:nvSpPr>
        <p:spPr>
          <a:xfrm>
            <a:off x="4937760" y="303580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Close badge 2.3 label"/>
          <p:cNvSpPr txBox="1"/>
          <p:nvPr/>
        </p:nvSpPr>
        <p:spPr>
          <a:xfrm>
            <a:off x="493776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Close item 2.3"/>
          <p:cNvSpPr txBox="1"/>
          <p:nvPr/>
        </p:nvSpPr>
        <p:spPr>
          <a:xfrm>
            <a:off x="5440680" y="300837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PDF report in the repo, given structure</a:t>
            </a:r>
            <a:endParaRPr lang="en-US" sz="1300" dirty="0"/>
          </a:p>
        </p:txBody>
      </p:sp>
      <p:sp>
        <p:nvSpPr>
          <p:cNvPr id="35" name="Close badge 2.4"/>
          <p:cNvSpPr/>
          <p:nvPr/>
        </p:nvSpPr>
        <p:spPr>
          <a:xfrm>
            <a:off x="4937760" y="3511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Close badge 2.4 label"/>
          <p:cNvSpPr txBox="1"/>
          <p:nvPr/>
        </p:nvSpPr>
        <p:spPr>
          <a:xfrm>
            <a:off x="493776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Close item 2.4"/>
          <p:cNvSpPr txBox="1"/>
          <p:nvPr/>
        </p:nvSpPr>
        <p:spPr>
          <a:xfrm>
            <a:off x="5440680" y="348386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Demo with pseudocode for the mentor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AIORI 3     Deployment Timeline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21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Deployment Timeline</a:t>
            </a:r>
            <a:endParaRPr lang="en-US" sz="2800" dirty="0"/>
          </a:p>
        </p:txBody>
      </p:sp>
      <p:sp>
        <p:nvSpPr>
          <p:cNvPr id="6" name="Subheading"/>
          <p:cNvSpPr txBox="1"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Official hackathon milestones, and our build plan inside them.</a:t>
            </a:r>
            <a:endParaRPr lang="en-US" sz="1500" dirty="0"/>
          </a:p>
        </p:txBody>
      </p:sp>
      <p:sp>
        <p:nvSpPr>
          <p:cNvPr id="7" name="Timeline line"/>
          <p:cNvSpPr/>
          <p:nvPr/>
        </p:nvSpPr>
        <p:spPr>
          <a:xfrm>
            <a:off x="1005840" y="1691640"/>
            <a:ext cx="7132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Milestone dot 1"/>
          <p:cNvSpPr/>
          <p:nvPr/>
        </p:nvSpPr>
        <p:spPr>
          <a:xfrm>
            <a:off x="8229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Milestone number 1"/>
          <p:cNvSpPr txBox="1"/>
          <p:nvPr/>
        </p:nvSpPr>
        <p:spPr>
          <a:xfrm>
            <a:off x="8229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Milestone date 1"/>
          <p:cNvSpPr txBox="1"/>
          <p:nvPr/>
        </p:nvSpPr>
        <p:spPr>
          <a:xfrm>
            <a:off x="4114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14 Oct</a:t>
            </a:r>
            <a:endParaRPr lang="en-US" sz="1200" dirty="0"/>
          </a:p>
        </p:txBody>
      </p:sp>
      <p:sp>
        <p:nvSpPr>
          <p:cNvPr id="11" name="Milestone text 1"/>
          <p:cNvSpPr txBox="1"/>
          <p:nvPr/>
        </p:nvSpPr>
        <p:spPr>
          <a:xfrm>
            <a:off x="45720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Level 1 steps 1–7 complete</a:t>
            </a:r>
            <a:endParaRPr lang="en-US" sz="1200" dirty="0"/>
          </a:p>
        </p:txBody>
      </p:sp>
      <p:sp>
        <p:nvSpPr>
          <p:cNvPr id="12" name="Milestone dot 2"/>
          <p:cNvSpPr/>
          <p:nvPr/>
        </p:nvSpPr>
        <p:spPr>
          <a:xfrm>
            <a:off x="20116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Milestone number 2"/>
          <p:cNvSpPr txBox="1"/>
          <p:nvPr/>
        </p:nvSpPr>
        <p:spPr>
          <a:xfrm>
            <a:off x="20116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Milestone date 2"/>
          <p:cNvSpPr txBox="1"/>
          <p:nvPr/>
        </p:nvSpPr>
        <p:spPr>
          <a:xfrm>
            <a:off x="16002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16 Oct</a:t>
            </a:r>
            <a:endParaRPr lang="en-US" sz="1200" dirty="0"/>
          </a:p>
        </p:txBody>
      </p:sp>
      <p:sp>
        <p:nvSpPr>
          <p:cNvPr id="15" name="Milestone text 2"/>
          <p:cNvSpPr txBox="1"/>
          <p:nvPr/>
        </p:nvSpPr>
        <p:spPr>
          <a:xfrm>
            <a:off x="164592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Level 2 teams announced</a:t>
            </a:r>
            <a:endParaRPr lang="en-US" sz="1200" dirty="0"/>
          </a:p>
        </p:txBody>
      </p:sp>
      <p:sp>
        <p:nvSpPr>
          <p:cNvPr id="16" name="Milestone dot 3"/>
          <p:cNvSpPr/>
          <p:nvPr/>
        </p:nvSpPr>
        <p:spPr>
          <a:xfrm>
            <a:off x="3200400" y="15087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Milestone number 3"/>
          <p:cNvSpPr txBox="1"/>
          <p:nvPr/>
        </p:nvSpPr>
        <p:spPr>
          <a:xfrm>
            <a:off x="32004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Milestone date 3"/>
          <p:cNvSpPr txBox="1"/>
          <p:nvPr/>
        </p:nvSpPr>
        <p:spPr>
          <a:xfrm>
            <a:off x="27889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16–31 Oct</a:t>
            </a:r>
            <a:endParaRPr lang="en-US" sz="1200" dirty="0"/>
          </a:p>
        </p:txBody>
      </p:sp>
      <p:sp>
        <p:nvSpPr>
          <p:cNvPr id="19" name="Milestone text 3"/>
          <p:cNvSpPr txBox="1"/>
          <p:nvPr/>
        </p:nvSpPr>
        <p:spPr>
          <a:xfrm>
            <a:off x="283464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sessions and steps 8–10</a:t>
            </a:r>
            <a:endParaRPr lang="en-US" sz="1200" dirty="0"/>
          </a:p>
        </p:txBody>
      </p:sp>
      <p:sp>
        <p:nvSpPr>
          <p:cNvPr id="20" name="Milestone dot 4"/>
          <p:cNvSpPr/>
          <p:nvPr/>
        </p:nvSpPr>
        <p:spPr>
          <a:xfrm>
            <a:off x="438912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Milestone number 4"/>
          <p:cNvSpPr txBox="1"/>
          <p:nvPr/>
        </p:nvSpPr>
        <p:spPr>
          <a:xfrm>
            <a:off x="43891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Milestone date 4"/>
          <p:cNvSpPr txBox="1"/>
          <p:nvPr/>
        </p:nvSpPr>
        <p:spPr>
          <a:xfrm>
            <a:off x="39776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31 Oct–4 Nov</a:t>
            </a:r>
            <a:endParaRPr lang="en-US" sz="1200" dirty="0"/>
          </a:p>
        </p:txBody>
      </p:sp>
      <p:sp>
        <p:nvSpPr>
          <p:cNvPr id="23" name="Milestone text 4"/>
          <p:cNvSpPr txBox="1"/>
          <p:nvPr/>
        </p:nvSpPr>
        <p:spPr>
          <a:xfrm>
            <a:off x="402336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Evaluators connect with teams</a:t>
            </a:r>
            <a:endParaRPr lang="en-US" sz="1200" dirty="0"/>
          </a:p>
        </p:txBody>
      </p:sp>
      <p:sp>
        <p:nvSpPr>
          <p:cNvPr id="24" name="Milestone dot 5"/>
          <p:cNvSpPr/>
          <p:nvPr/>
        </p:nvSpPr>
        <p:spPr>
          <a:xfrm>
            <a:off x="557784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Milestone number 5"/>
          <p:cNvSpPr txBox="1"/>
          <p:nvPr/>
        </p:nvSpPr>
        <p:spPr>
          <a:xfrm>
            <a:off x="55778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Milestone date 5"/>
          <p:cNvSpPr txBox="1"/>
          <p:nvPr/>
        </p:nvSpPr>
        <p:spPr>
          <a:xfrm>
            <a:off x="51663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Nov</a:t>
            </a:r>
            <a:endParaRPr lang="en-US" sz="1200" dirty="0"/>
          </a:p>
        </p:txBody>
      </p:sp>
      <p:sp>
        <p:nvSpPr>
          <p:cNvPr id="27" name="Milestone text 5"/>
          <p:cNvSpPr txBox="1"/>
          <p:nvPr/>
        </p:nvSpPr>
        <p:spPr>
          <a:xfrm>
            <a:off x="521208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Regional teams announced</a:t>
            </a:r>
            <a:endParaRPr lang="en-US" sz="1200" dirty="0"/>
          </a:p>
        </p:txBody>
      </p:sp>
      <p:sp>
        <p:nvSpPr>
          <p:cNvPr id="28" name="Milestone dot 6"/>
          <p:cNvSpPr/>
          <p:nvPr/>
        </p:nvSpPr>
        <p:spPr>
          <a:xfrm>
            <a:off x="67665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Milestone number 6"/>
          <p:cNvSpPr txBox="1"/>
          <p:nvPr/>
        </p:nvSpPr>
        <p:spPr>
          <a:xfrm>
            <a:off x="67665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Milestone date 6"/>
          <p:cNvSpPr txBox="1"/>
          <p:nvPr/>
        </p:nvSpPr>
        <p:spPr>
          <a:xfrm>
            <a:off x="63550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24–30 Nov</a:t>
            </a:r>
            <a:endParaRPr lang="en-US" sz="1200" dirty="0"/>
          </a:p>
        </p:txBody>
      </p:sp>
      <p:sp>
        <p:nvSpPr>
          <p:cNvPr id="31" name="Milestone text 6"/>
          <p:cNvSpPr txBox="1"/>
          <p:nvPr/>
        </p:nvSpPr>
        <p:spPr>
          <a:xfrm>
            <a:off x="640080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Regional hackathon: Bengaluru, Pune, Kolkata, Noida</a:t>
            </a:r>
            <a:endParaRPr lang="en-US" sz="1200" dirty="0"/>
          </a:p>
        </p:txBody>
      </p:sp>
      <p:sp>
        <p:nvSpPr>
          <p:cNvPr id="32" name="Milestone dot 7"/>
          <p:cNvSpPr/>
          <p:nvPr/>
        </p:nvSpPr>
        <p:spPr>
          <a:xfrm>
            <a:off x="79552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Milestone number 7"/>
          <p:cNvSpPr txBox="1"/>
          <p:nvPr/>
        </p:nvSpPr>
        <p:spPr>
          <a:xfrm>
            <a:off x="7955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Milestone date 7"/>
          <p:cNvSpPr txBox="1"/>
          <p:nvPr/>
        </p:nvSpPr>
        <p:spPr>
          <a:xfrm>
            <a:off x="754380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17 Dec</a:t>
            </a:r>
            <a:endParaRPr lang="en-US" sz="1200" dirty="0"/>
          </a:p>
        </p:txBody>
      </p:sp>
      <p:sp>
        <p:nvSpPr>
          <p:cNvPr id="35" name="Milestone text 7"/>
          <p:cNvSpPr txBox="1"/>
          <p:nvPr/>
        </p:nvSpPr>
        <p:spPr>
          <a:xfrm>
            <a:off x="7589520" y="230428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Finals: 8 teams at IIT Jammu</a:t>
            </a:r>
            <a:endParaRPr lang="en-US" sz="1200" dirty="0"/>
          </a:p>
        </p:txBody>
      </p:sp>
      <p:sp>
        <p:nvSpPr>
          <p:cNvPr id="36" name="Methodology heading"/>
          <p:cNvSpPr txBox="1"/>
          <p:nvPr/>
        </p:nvSpPr>
        <p:spPr>
          <a:xfrm>
            <a:off x="411480" y="3520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Our build plan (inside the 16–31 Oct mentoring window)</a:t>
            </a:r>
            <a:endParaRPr lang="en-US" sz="1400" dirty="0"/>
          </a:p>
        </p:txBody>
      </p:sp>
      <p:sp>
        <p:nvSpPr>
          <p:cNvPr id="37" name="Bullets"/>
          <p:cNvSpPr txBox="1"/>
          <p:nvPr/>
        </p:nvSpPr>
        <p:spPr>
          <a:xfrm>
            <a:off x="411480" y="38404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Incremental delivery: single-host agent, then controller, then reconciler, then tests, report and demo.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Mentoring sessions review each milestone; each one ends with a leak check on both hosts.</a:t>
            </a:r>
            <a:endParaRPr lang="en-US" sz="12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Cloud Hypervisor version pinned so the API schema stays stable.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 txBox="1"/>
          <p:nvPr/>
        </p:nvSpPr>
        <p:spPr>
          <a:xfrm>
            <a:off x="1828800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Bibliography</a:t>
            </a:r>
            <a:endParaRPr lang="en-US" sz="1100" dirty="0"/>
          </a:p>
        </p:txBody>
      </p:sp>
      <p:sp>
        <p:nvSpPr>
          <p:cNvPr id="3" name="Footer"/>
          <p:cNvSpPr txBox="1"/>
          <p:nvPr/>
        </p:nvSpPr>
        <p:spPr>
          <a:xfrm>
            <a:off x="41148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Das, Mitra, Chakraborty  •  </a:t>
            </a:r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A3-PS023-TC301</a:t>
            </a:r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 •  October 14, 2026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7772400" y="47731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22 / 23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Bibliography I</a:t>
            </a:r>
            <a:endParaRPr lang="en-US" sz="2800" dirty="0"/>
          </a:p>
        </p:txBody>
      </p:sp>
      <p:sp>
        <p:nvSpPr>
          <p:cNvPr id="6" name="Ref number 1"/>
          <p:cNvSpPr txBox="1"/>
          <p:nvPr/>
        </p:nvSpPr>
        <p:spPr>
          <a:xfrm>
            <a:off x="411480" y="1097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[1]</a:t>
            </a:r>
            <a:endParaRPr lang="en-US" sz="1400" dirty="0"/>
          </a:p>
        </p:txBody>
      </p:sp>
      <p:sp>
        <p:nvSpPr>
          <p:cNvPr id="7" name="Ref text 1"/>
          <p:cNvSpPr txBox="1"/>
          <p:nvPr/>
        </p:nvSpPr>
        <p:spPr>
          <a:xfrm>
            <a:off x="868680" y="1097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 Hypervisor Project. “Cloud Hypervisor REST API documentation.” GitHub, docs/api.md. github.com/cloud-hypervisor/cloud-hypervisor</a:t>
            </a:r>
            <a:endParaRPr lang="en-US" sz="1400" dirty="0"/>
          </a:p>
        </p:txBody>
      </p:sp>
      <p:sp>
        <p:nvSpPr>
          <p:cNvPr id="8" name="Ref number 2"/>
          <p:cNvSpPr txBox="1"/>
          <p:nvPr/>
        </p:nvSpPr>
        <p:spPr>
          <a:xfrm>
            <a:off x="411480" y="170078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[2]</a:t>
            </a:r>
            <a:endParaRPr lang="en-US" sz="1400" dirty="0"/>
          </a:p>
        </p:txBody>
      </p:sp>
      <p:sp>
        <p:nvSpPr>
          <p:cNvPr id="9" name="Ref text 2"/>
          <p:cNvSpPr txBox="1"/>
          <p:nvPr/>
        </p:nvSpPr>
        <p:spPr>
          <a:xfrm>
            <a:off x="868680" y="170078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Alexandru Agache et al. “Firecracker: Lightweight Virtualization for Serverless Applications.” In: Proc. USENIX NSDI (2020).</a:t>
            </a:r>
            <a:endParaRPr lang="en-US" sz="1400" dirty="0"/>
          </a:p>
        </p:txBody>
      </p:sp>
      <p:sp>
        <p:nvSpPr>
          <p:cNvPr id="10" name="Ref number 3"/>
          <p:cNvSpPr txBox="1"/>
          <p:nvPr/>
        </p:nvSpPr>
        <p:spPr>
          <a:xfrm>
            <a:off x="411480" y="23042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[3]</a:t>
            </a:r>
            <a:endParaRPr lang="en-US" sz="1400" dirty="0"/>
          </a:p>
        </p:txBody>
      </p:sp>
      <p:sp>
        <p:nvSpPr>
          <p:cNvPr id="11" name="Ref text 3"/>
          <p:cNvSpPr txBox="1"/>
          <p:nvPr/>
        </p:nvSpPr>
        <p:spPr>
          <a:xfrm>
            <a:off x="868680" y="23042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Michael B. Jones and Dick Hardt. “The OAuth 2.0 Authorization Framework: Bearer Token Usage.” RFC 6750, IETF (2012).</a:t>
            </a:r>
            <a:endParaRPr lang="en-US" sz="1400" dirty="0"/>
          </a:p>
        </p:txBody>
      </p:sp>
      <p:sp>
        <p:nvSpPr>
          <p:cNvPr id="12" name="Ref number 4"/>
          <p:cNvSpPr txBox="1"/>
          <p:nvPr/>
        </p:nvSpPr>
        <p:spPr>
          <a:xfrm>
            <a:off x="411480" y="29077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[4]</a:t>
            </a:r>
            <a:endParaRPr lang="en-US" sz="1400" dirty="0"/>
          </a:p>
        </p:txBody>
      </p:sp>
      <p:sp>
        <p:nvSpPr>
          <p:cNvPr id="13" name="Ref text 4"/>
          <p:cNvSpPr txBox="1"/>
          <p:nvPr/>
        </p:nvSpPr>
        <p:spPr>
          <a:xfrm>
            <a:off x="868680" y="2907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Eric Rescorla. “The Transport Layer Security (TLS) Protocol Version 1.3.” RFC 8446, IETF (2018).</a:t>
            </a:r>
            <a:endParaRPr lang="en-US" sz="1400" dirty="0"/>
          </a:p>
        </p:txBody>
      </p:sp>
      <p:sp>
        <p:nvSpPr>
          <p:cNvPr id="14" name="Ref number 5"/>
          <p:cNvSpPr txBox="1"/>
          <p:nvPr/>
        </p:nvSpPr>
        <p:spPr>
          <a:xfrm>
            <a:off x="411480" y="35112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[5]</a:t>
            </a:r>
            <a:endParaRPr lang="en-US" sz="1400" dirty="0"/>
          </a:p>
        </p:txBody>
      </p:sp>
      <p:sp>
        <p:nvSpPr>
          <p:cNvPr id="15" name="Ref text 5"/>
          <p:cNvSpPr txBox="1"/>
          <p:nvPr/>
        </p:nvSpPr>
        <p:spPr>
          <a:xfrm>
            <a:off x="868680" y="35112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Linux Kernel Documentation. “Control Group v2.” docs.kernel.org/admin-guide/cgroup-v2.html.</a:t>
            </a:r>
            <a:endParaRPr lang="en-US" sz="1400" dirty="0"/>
          </a:p>
        </p:txBody>
      </p:sp>
      <p:sp>
        <p:nvSpPr>
          <p:cNvPr id="16" name="Ref number 6"/>
          <p:cNvSpPr txBox="1"/>
          <p:nvPr/>
        </p:nvSpPr>
        <p:spPr>
          <a:xfrm>
            <a:off x="411480" y="4114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[6]</a:t>
            </a:r>
            <a:endParaRPr lang="en-US" sz="1400" dirty="0"/>
          </a:p>
        </p:txBody>
      </p:sp>
      <p:sp>
        <p:nvSpPr>
          <p:cNvPr id="17" name="Ref text 6"/>
          <p:cNvSpPr txBox="1"/>
          <p:nvPr/>
        </p:nvSpPr>
        <p:spPr>
          <a:xfrm>
            <a:off x="8686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 Kivity et al. “kvm: the Linux Virtual Machine Monitor.” In: Proceedings of the Linux Symposium (2007).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411480" y="21945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Thank You for Your Attention!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111111"/>
      </a:dk1>
      <a:lt1>
        <a:srgbClr val="FFFFFF"/>
      </a:lt1>
      <a:dk2>
        <a:srgbClr val="0000CC"/>
      </a:dk2>
      <a:lt2>
        <a:srgbClr val="EDEDF7"/>
      </a:lt2>
      <a:accent1>
        <a:srgbClr val="0000CC"/>
      </a:accent1>
      <a:accent2>
        <a:srgbClr val="14A89B"/>
      </a:accent2>
      <a:accent3>
        <a:srgbClr val="F2A33A"/>
      </a:accent3>
      <a:accent4>
        <a:srgbClr val="1C3050"/>
      </a:accent4>
      <a:accent5>
        <a:srgbClr val="5A6475"/>
      </a:accent5>
      <a:accent6>
        <a:srgbClr val="CFE7E3"/>
      </a:accent6>
      <a:hlink>
        <a:srgbClr val="0000CC"/>
      </a:hlink>
      <a:folHlink>
        <a:srgbClr val="5A6475"/>
      </a:folHlink>
    </a:clrScheme>
    <a:fontScheme name="AIORI3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A3-PS023-TC301 Minimal Two-Node Cloud Hypervisor VM Controller</dc:title>
  <dc:subject>PptxGenJS Presentation</dc:subject>
  <dc:creator>Das, Mitra, Chakraborty</dc:creator>
  <cp:lastModifiedBy>Das, Mitra, Chakraborty</cp:lastModifiedBy>
  <cp:revision>1</cp:revision>
  <dcterms:created xsi:type="dcterms:W3CDTF">2026-10-14T06:14:05Z</dcterms:created>
  <dcterms:modified xsi:type="dcterms:W3CDTF">2026-10-14T06:14:05Z</dcterms:modified>
</cp:coreProperties>
</file>